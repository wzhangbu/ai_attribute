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13" r:id="rId2"/>
    <p:sldId id="2147471679" r:id="rId3"/>
    <p:sldId id="319" r:id="rId4"/>
    <p:sldId id="378" r:id="rId5"/>
    <p:sldId id="379" r:id="rId6"/>
    <p:sldId id="380" r:id="rId7"/>
    <p:sldId id="381" r:id="rId8"/>
    <p:sldId id="373" r:id="rId9"/>
    <p:sldId id="348" r:id="rId10"/>
    <p:sldId id="351" r:id="rId11"/>
    <p:sldId id="375" r:id="rId12"/>
    <p:sldId id="377" r:id="rId13"/>
    <p:sldId id="371" r:id="rId14"/>
    <p:sldId id="2147471681" r:id="rId15"/>
    <p:sldId id="366" r:id="rId16"/>
    <p:sldId id="361" r:id="rId17"/>
    <p:sldId id="362" r:id="rId18"/>
    <p:sldId id="271" r:id="rId19"/>
    <p:sldId id="353" r:id="rId20"/>
    <p:sldId id="350" r:id="rId21"/>
    <p:sldId id="369" r:id="rId22"/>
    <p:sldId id="2147471682" r:id="rId23"/>
    <p:sldId id="354" r:id="rId24"/>
    <p:sldId id="370" r:id="rId25"/>
    <p:sldId id="3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18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82621" autoAdjust="0"/>
  </p:normalViewPr>
  <p:slideViewPr>
    <p:cSldViewPr snapToGrid="0">
      <p:cViewPr varScale="1">
        <p:scale>
          <a:sx n="49" d="100"/>
          <a:sy n="49" d="100"/>
        </p:scale>
        <p:origin x="1336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zhang\Downloads\pred-truth%20(1)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zhang\Downloads\pred-truth%20(1)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zhang\Downloads\2000data%20(1)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zhang\Downloads\2000data%20(1)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zhang\Downloads\2000data%20(1)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zhang\Downloads\2000data%20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Bedroom Prediction Difference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Bedroom Diff</c:v>
          </c:tx>
          <c:invertIfNegative val="0"/>
          <c:cat>
            <c:numRef>
              <c:f>Histograms!$A$2:$A$10</c:f>
              <c:numCache>
                <c:formatCode>General</c:formatCode>
                <c:ptCount val="9"/>
                <c:pt idx="0">
                  <c:v>-4</c:v>
                </c:pt>
                <c:pt idx="1">
                  <c:v>-3</c:v>
                </c:pt>
                <c:pt idx="2">
                  <c:v>-2</c:v>
                </c:pt>
                <c:pt idx="3">
                  <c:v>-1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</c:numCache>
            </c:numRef>
          </c:cat>
          <c:val>
            <c:numRef>
              <c:f>Histograms!$C$2:$C$10</c:f>
              <c:numCache>
                <c:formatCode>General</c:formatCode>
                <c:ptCount val="9"/>
                <c:pt idx="0">
                  <c:v>4</c:v>
                </c:pt>
                <c:pt idx="1">
                  <c:v>3</c:v>
                </c:pt>
                <c:pt idx="2">
                  <c:v>31</c:v>
                </c:pt>
                <c:pt idx="3">
                  <c:v>154</c:v>
                </c:pt>
                <c:pt idx="4">
                  <c:v>435</c:v>
                </c:pt>
                <c:pt idx="5">
                  <c:v>251</c:v>
                </c:pt>
                <c:pt idx="6">
                  <c:v>107</c:v>
                </c:pt>
                <c:pt idx="7">
                  <c:v>12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6-4015-83AB-47269B07D3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020001"/>
        <c:axId val="50020002"/>
      </c:barChart>
      <c:catAx>
        <c:axId val="5002000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aseline="0"/>
                </a:pPr>
                <a:r>
                  <a:rPr lang="en-US" sz="1400" baseline="0" dirty="0"/>
                  <a:t>Predicted - Quantarium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20002"/>
        <c:crosses val="autoZero"/>
        <c:auto val="1"/>
        <c:lblAlgn val="ctr"/>
        <c:lblOffset val="100"/>
        <c:noMultiLvlLbl val="0"/>
      </c:catAx>
      <c:valAx>
        <c:axId val="500200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aseline="0"/>
                </a:pPr>
                <a:r>
                  <a:rPr lang="en-US" sz="1400" baseline="0"/>
                  <a:t>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20001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Bathroom Prediction Difference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Bathroom Diff</c:v>
          </c:tx>
          <c:invertIfNegative val="0"/>
          <c:cat>
            <c:numRef>
              <c:f>Histograms!$A$2:$A$10</c:f>
              <c:numCache>
                <c:formatCode>General</c:formatCode>
                <c:ptCount val="9"/>
                <c:pt idx="0">
                  <c:v>-4</c:v>
                </c:pt>
                <c:pt idx="1">
                  <c:v>-3</c:v>
                </c:pt>
                <c:pt idx="2">
                  <c:v>-2</c:v>
                </c:pt>
                <c:pt idx="3">
                  <c:v>-1</c:v>
                </c:pt>
                <c:pt idx="4">
                  <c:v>0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</c:numCache>
            </c:numRef>
          </c:cat>
          <c:val>
            <c:numRef>
              <c:f>Histograms!$B$2:$B$10</c:f>
              <c:numCache>
                <c:formatCode>General</c:formatCode>
                <c:ptCount val="9"/>
                <c:pt idx="0">
                  <c:v>0</c:v>
                </c:pt>
                <c:pt idx="1">
                  <c:v>7</c:v>
                </c:pt>
                <c:pt idx="2">
                  <c:v>45</c:v>
                </c:pt>
                <c:pt idx="3">
                  <c:v>181</c:v>
                </c:pt>
                <c:pt idx="4">
                  <c:v>318</c:v>
                </c:pt>
                <c:pt idx="5">
                  <c:v>219</c:v>
                </c:pt>
                <c:pt idx="6">
                  <c:v>48</c:v>
                </c:pt>
                <c:pt idx="7">
                  <c:v>5</c:v>
                </c:pt>
                <c:pt idx="8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29-4508-89E2-F48C57D4F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010001"/>
        <c:axId val="50010002"/>
      </c:barChart>
      <c:catAx>
        <c:axId val="5001000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aseline="0"/>
                </a:pPr>
                <a:r>
                  <a:rPr lang="en-US" sz="1400" baseline="0" dirty="0"/>
                  <a:t>Predicted - </a:t>
                </a:r>
                <a:r>
                  <a:rPr lang="en-US" sz="1400" b="1" i="0" u="none" strike="noStrike" kern="1200" baseline="0" dirty="0">
                    <a:solidFill>
                      <a:prstClr val="black"/>
                    </a:solidFill>
                  </a:rPr>
                  <a:t>Quantarium</a:t>
                </a:r>
                <a:endParaRPr lang="en-US" sz="1400" baseline="0" dirty="0"/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aseline="0"/>
                </a:pPr>
                <a:r>
                  <a:rPr lang="en-US" sz="1400" baseline="0"/>
                  <a:t>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10001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aseline="0"/>
            </a:pPr>
            <a:r>
              <a:rPr lang="en-US" sz="1400" baseline="0" dirty="0"/>
              <a:t>Predicted Bathroom</a:t>
            </a:r>
          </a:p>
        </c:rich>
      </c:tx>
      <c:layout>
        <c:manualLayout>
          <c:xMode val="edge"/>
          <c:yMode val="edge"/>
          <c:x val="0.64961994333768713"/>
          <c:y val="0.197931694771419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/>
          </c:tx>
          <c:invertIfNegative val="0"/>
          <c:cat>
            <c:numRef>
              <c:f>Histograms!$A$2:$A$11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Histograms!$B$2:$B$11</c:f>
              <c:numCache>
                <c:formatCode>General</c:formatCode>
                <c:ptCount val="10"/>
                <c:pt idx="0">
                  <c:v>1</c:v>
                </c:pt>
                <c:pt idx="1">
                  <c:v>159</c:v>
                </c:pt>
                <c:pt idx="2">
                  <c:v>484</c:v>
                </c:pt>
                <c:pt idx="3">
                  <c:v>273</c:v>
                </c:pt>
                <c:pt idx="4">
                  <c:v>14</c:v>
                </c:pt>
                <c:pt idx="5">
                  <c:v>9</c:v>
                </c:pt>
                <c:pt idx="6">
                  <c:v>27</c:v>
                </c:pt>
                <c:pt idx="7">
                  <c:v>28</c:v>
                </c:pt>
                <c:pt idx="8">
                  <c:v>3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79-4067-8A8A-754F62EE25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010001"/>
        <c:axId val="50010002"/>
      </c:barChart>
      <c:catAx>
        <c:axId val="5001000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aseline="0"/>
            </a:pPr>
            <a:endParaRPr lang="en-US"/>
          </a:p>
        </c:txPr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200" baseline="0"/>
                </a:pPr>
                <a:r>
                  <a:rPr lang="en-US" sz="1200" baseline="0"/>
                  <a:t>Frequency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aseline="0"/>
            </a:pPr>
            <a:endParaRPr lang="en-US"/>
          </a:p>
        </c:txPr>
        <c:crossAx val="50010001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aseline="0"/>
            </a:pPr>
            <a:r>
              <a:rPr lang="en-US" sz="1400" baseline="0" dirty="0"/>
              <a:t>Predicted Bathroom </a:t>
            </a:r>
          </a:p>
        </c:rich>
      </c:tx>
      <c:layout>
        <c:manualLayout>
          <c:xMode val="edge"/>
          <c:yMode val="edge"/>
          <c:x val="0.65244322028704949"/>
          <c:y val="0.22897980375517099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/>
          </c:tx>
          <c:invertIfNegative val="0"/>
          <c:cat>
            <c:numRef>
              <c:f>Histograms!$A$2:$A$11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Histograms!$C$2:$C$11</c:f>
              <c:numCache>
                <c:formatCode>General</c:formatCode>
                <c:ptCount val="10"/>
                <c:pt idx="0">
                  <c:v>19</c:v>
                </c:pt>
                <c:pt idx="1">
                  <c:v>154</c:v>
                </c:pt>
                <c:pt idx="2">
                  <c:v>698</c:v>
                </c:pt>
                <c:pt idx="3">
                  <c:v>129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11-4388-8DA6-CBF390C682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020001"/>
        <c:axId val="50020002"/>
      </c:barChart>
      <c:catAx>
        <c:axId val="5002000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aseline="0"/>
                </a:pPr>
                <a:r>
                  <a:rPr lang="en-US" sz="1200" baseline="0" dirty="0"/>
                  <a:t>Bathroom value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aseline="0"/>
            </a:pPr>
            <a:endParaRPr lang="en-US"/>
          </a:p>
        </c:txPr>
        <c:crossAx val="50020002"/>
        <c:crosses val="autoZero"/>
        <c:auto val="1"/>
        <c:lblAlgn val="ctr"/>
        <c:lblOffset val="100"/>
        <c:noMultiLvlLbl val="0"/>
      </c:catAx>
      <c:valAx>
        <c:axId val="500200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200" baseline="0"/>
                </a:pPr>
                <a:r>
                  <a:rPr lang="en-US" sz="1200" baseline="0"/>
                  <a:t>Frequency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aseline="0"/>
            </a:pPr>
            <a:endParaRPr lang="en-US"/>
          </a:p>
        </c:txPr>
        <c:crossAx val="50020001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aseline="0"/>
            </a:pPr>
            <a:r>
              <a:rPr lang="en-US" sz="1400" baseline="0" dirty="0"/>
              <a:t>Predicted Bedroom </a:t>
            </a:r>
          </a:p>
        </c:rich>
      </c:tx>
      <c:layout>
        <c:manualLayout>
          <c:xMode val="edge"/>
          <c:yMode val="edge"/>
          <c:x val="0.66150256178025946"/>
          <c:y val="0.205693722017357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/>
          </c:tx>
          <c:invertIfNegative val="0"/>
          <c:cat>
            <c:numRef>
              <c:f>Histograms!$A$22:$A$31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Histograms!$B$22:$B$31</c:f>
              <c:numCache>
                <c:formatCode>General</c:formatCode>
                <c:ptCount val="10"/>
                <c:pt idx="0">
                  <c:v>5</c:v>
                </c:pt>
                <c:pt idx="1">
                  <c:v>33</c:v>
                </c:pt>
                <c:pt idx="2">
                  <c:v>549</c:v>
                </c:pt>
                <c:pt idx="3">
                  <c:v>331</c:v>
                </c:pt>
                <c:pt idx="4">
                  <c:v>48</c:v>
                </c:pt>
                <c:pt idx="5">
                  <c:v>32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6A-4085-97D2-80BD9B1DB8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030001"/>
        <c:axId val="50030002"/>
      </c:barChart>
      <c:catAx>
        <c:axId val="5003000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aseline="0"/>
            </a:pPr>
            <a:endParaRPr lang="en-US"/>
          </a:p>
        </c:txPr>
        <c:crossAx val="50030002"/>
        <c:crosses val="autoZero"/>
        <c:auto val="1"/>
        <c:lblAlgn val="ctr"/>
        <c:lblOffset val="100"/>
        <c:noMultiLvlLbl val="0"/>
      </c:catAx>
      <c:valAx>
        <c:axId val="500300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200" baseline="0"/>
                </a:pPr>
                <a:r>
                  <a:rPr lang="en-US" sz="1200" baseline="0"/>
                  <a:t>Frequency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aseline="0"/>
            </a:pPr>
            <a:endParaRPr lang="en-US"/>
          </a:p>
        </c:txPr>
        <c:crossAx val="50030001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aseline="0"/>
            </a:pPr>
            <a:r>
              <a:rPr lang="en-US" sz="1400" baseline="0" dirty="0"/>
              <a:t>Predicted Bedroom </a:t>
            </a:r>
          </a:p>
        </c:rich>
      </c:tx>
      <c:layout>
        <c:manualLayout>
          <c:xMode val="edge"/>
          <c:yMode val="edge"/>
          <c:x val="0.65157069435122994"/>
          <c:y val="0.209574735640326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2807783662297945"/>
          <c:y val="0.21067119838672069"/>
          <c:w val="0.84613585636750122"/>
          <c:h val="0.60031702075058802"/>
        </c:manualLayout>
      </c:layout>
      <c:barChart>
        <c:barDir val="col"/>
        <c:grouping val="clustered"/>
        <c:varyColors val="0"/>
        <c:ser>
          <c:idx val="0"/>
          <c:order val="0"/>
          <c:tx>
            <c:v/>
          </c:tx>
          <c:invertIfNegative val="0"/>
          <c:cat>
            <c:numRef>
              <c:f>Histograms!$A$22:$A$31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Histograms!$C$22:$C$31</c:f>
              <c:numCache>
                <c:formatCode>General</c:formatCode>
                <c:ptCount val="10"/>
                <c:pt idx="0">
                  <c:v>0</c:v>
                </c:pt>
                <c:pt idx="1">
                  <c:v>16</c:v>
                </c:pt>
                <c:pt idx="2">
                  <c:v>688</c:v>
                </c:pt>
                <c:pt idx="3">
                  <c:v>275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F6-40BC-91FE-E375F2515C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040001"/>
        <c:axId val="50040002"/>
      </c:barChart>
      <c:catAx>
        <c:axId val="5004000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aseline="0"/>
                </a:pPr>
                <a:r>
                  <a:rPr lang="en-US" sz="1200" baseline="0" dirty="0"/>
                  <a:t>Bedroom value</a:t>
                </a:r>
              </a:p>
            </c:rich>
          </c:tx>
          <c:layout>
            <c:manualLayout>
              <c:xMode val="edge"/>
              <c:yMode val="edge"/>
              <c:x val="0.49513659543960764"/>
              <c:y val="0.89657098694787596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aseline="0"/>
            </a:pPr>
            <a:endParaRPr lang="en-US"/>
          </a:p>
        </c:txPr>
        <c:crossAx val="50040002"/>
        <c:crosses val="autoZero"/>
        <c:auto val="1"/>
        <c:lblAlgn val="ctr"/>
        <c:lblOffset val="100"/>
        <c:noMultiLvlLbl val="0"/>
      </c:catAx>
      <c:valAx>
        <c:axId val="5004000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200" baseline="0"/>
                </a:pPr>
                <a:r>
                  <a:rPr lang="en-US" sz="1200" baseline="0"/>
                  <a:t>Frequency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aseline="0"/>
            </a:pPr>
            <a:endParaRPr lang="en-US"/>
          </a:p>
        </c:txPr>
        <c:crossAx val="50040001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C59AB4-59E6-4704-B9DA-A1A57E699CC5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002252-5833-434C-9EC1-A4D8F1ECB530}">
      <dgm:prSet phldrT="[Text]" custT="1"/>
      <dgm:spPr/>
      <dgm:t>
        <a:bodyPr/>
        <a:lstStyle/>
        <a:p>
          <a:r>
            <a:rPr lang="en-US" sz="2400" dirty="0"/>
            <a:t>What prompts should be to used in GPT ?</a:t>
          </a:r>
        </a:p>
      </dgm:t>
    </dgm:pt>
    <dgm:pt modelId="{346E9973-6B31-4F2B-BCE6-E5E6C7621F6C}" type="parTrans" cxnId="{495EB9FB-8346-43AE-B186-567A5C1E3BD9}">
      <dgm:prSet/>
      <dgm:spPr/>
      <dgm:t>
        <a:bodyPr/>
        <a:lstStyle/>
        <a:p>
          <a:endParaRPr lang="en-US"/>
        </a:p>
      </dgm:t>
    </dgm:pt>
    <dgm:pt modelId="{701C8415-A8CD-496D-8E03-2EFCAF278E52}" type="sibTrans" cxnId="{495EB9FB-8346-43AE-B186-567A5C1E3BD9}">
      <dgm:prSet/>
      <dgm:spPr/>
      <dgm:t>
        <a:bodyPr/>
        <a:lstStyle/>
        <a:p>
          <a:endParaRPr lang="en-US"/>
        </a:p>
      </dgm:t>
    </dgm:pt>
    <dgm:pt modelId="{D914CF07-7BBA-4D51-8550-2E9B6D1AE7B1}">
      <dgm:prSet phldrT="[Text]" custT="1"/>
      <dgm:spPr/>
      <dgm:t>
        <a:bodyPr/>
        <a:lstStyle/>
        <a:p>
          <a:r>
            <a:rPr lang="en-US" sz="2400" dirty="0"/>
            <a:t>Is GPT’s prediction accurate?</a:t>
          </a:r>
        </a:p>
      </dgm:t>
    </dgm:pt>
    <dgm:pt modelId="{C3C078F9-3B07-4B40-9432-3CC0EFFA6E3C}" type="parTrans" cxnId="{A0DED410-464A-43CC-8001-98FBB506DB83}">
      <dgm:prSet/>
      <dgm:spPr/>
      <dgm:t>
        <a:bodyPr/>
        <a:lstStyle/>
        <a:p>
          <a:endParaRPr lang="en-US"/>
        </a:p>
      </dgm:t>
    </dgm:pt>
    <dgm:pt modelId="{DC522E44-2E9B-4E7F-9531-ADBFD0DC5E76}" type="sibTrans" cxnId="{A0DED410-464A-43CC-8001-98FBB506DB83}">
      <dgm:prSet/>
      <dgm:spPr/>
      <dgm:t>
        <a:bodyPr/>
        <a:lstStyle/>
        <a:p>
          <a:endParaRPr lang="en-US"/>
        </a:p>
      </dgm:t>
    </dgm:pt>
    <dgm:pt modelId="{462F9747-6536-4A41-B505-4E49E7D67459}">
      <dgm:prSet phldrT="[Text]" custT="1"/>
      <dgm:spPr/>
      <dgm:t>
        <a:bodyPr/>
        <a:lstStyle/>
        <a:p>
          <a:r>
            <a:rPr lang="en-US" sz="2400" dirty="0"/>
            <a:t>How robust is GPT’s prediction?</a:t>
          </a:r>
          <a:endParaRPr lang="en-US" sz="2400" b="1" dirty="0"/>
        </a:p>
      </dgm:t>
    </dgm:pt>
    <dgm:pt modelId="{230D9E86-3E01-40C2-83B6-EDC5AD842104}" type="parTrans" cxnId="{BD8E7FCD-66BF-4A25-B42B-BF1C586EA8E5}">
      <dgm:prSet/>
      <dgm:spPr/>
      <dgm:t>
        <a:bodyPr/>
        <a:lstStyle/>
        <a:p>
          <a:endParaRPr lang="en-US"/>
        </a:p>
      </dgm:t>
    </dgm:pt>
    <dgm:pt modelId="{EDB432E5-D6BD-4891-A7B8-5985D65F6358}" type="sibTrans" cxnId="{BD8E7FCD-66BF-4A25-B42B-BF1C586EA8E5}">
      <dgm:prSet/>
      <dgm:spPr/>
      <dgm:t>
        <a:bodyPr/>
        <a:lstStyle/>
        <a:p>
          <a:endParaRPr lang="en-US"/>
        </a:p>
      </dgm:t>
    </dgm:pt>
    <dgm:pt modelId="{1D2FDE3D-5A03-44B2-91BB-45578394BC10}">
      <dgm:prSet custT="1"/>
      <dgm:spPr/>
      <dgm:t>
        <a:bodyPr/>
        <a:lstStyle/>
        <a:p>
          <a:r>
            <a:rPr lang="en-US" sz="2000" b="0" dirty="0"/>
            <a:t>correct # of bedrooms?</a:t>
          </a:r>
        </a:p>
      </dgm:t>
    </dgm:pt>
    <dgm:pt modelId="{3204E715-844B-4387-AF40-76DBED58F08F}" type="parTrans" cxnId="{F5E6EB00-9FE7-403B-A3E0-E24A675C01D8}">
      <dgm:prSet/>
      <dgm:spPr/>
      <dgm:t>
        <a:bodyPr/>
        <a:lstStyle/>
        <a:p>
          <a:endParaRPr lang="en-US"/>
        </a:p>
      </dgm:t>
    </dgm:pt>
    <dgm:pt modelId="{2B992665-2A3F-4B5C-A1F4-397C3B77F617}" type="sibTrans" cxnId="{F5E6EB00-9FE7-403B-A3E0-E24A675C01D8}">
      <dgm:prSet/>
      <dgm:spPr/>
      <dgm:t>
        <a:bodyPr/>
        <a:lstStyle/>
        <a:p>
          <a:endParaRPr lang="en-US"/>
        </a:p>
      </dgm:t>
    </dgm:pt>
    <dgm:pt modelId="{50748E0E-83F1-4BF4-8CEE-D65722CB9BFA}">
      <dgm:prSet phldrT="[Text]" custT="1"/>
      <dgm:spPr/>
      <dgm:t>
        <a:bodyPr/>
        <a:lstStyle/>
        <a:p>
          <a:r>
            <a:rPr lang="en-US" sz="2000" b="0" dirty="0"/>
            <a:t>format</a:t>
          </a:r>
        </a:p>
      </dgm:t>
    </dgm:pt>
    <dgm:pt modelId="{03963BD0-9269-4EEF-AAD2-74F83824C84C}" type="sibTrans" cxnId="{35C59DF5-CC31-47D9-8B6A-FB012FE241D9}">
      <dgm:prSet/>
      <dgm:spPr/>
      <dgm:t>
        <a:bodyPr/>
        <a:lstStyle/>
        <a:p>
          <a:endParaRPr lang="en-US"/>
        </a:p>
      </dgm:t>
    </dgm:pt>
    <dgm:pt modelId="{C9CD115E-099D-4BD7-9063-D45C7F56B450}" type="parTrans" cxnId="{35C59DF5-CC31-47D9-8B6A-FB012FE241D9}">
      <dgm:prSet/>
      <dgm:spPr/>
      <dgm:t>
        <a:bodyPr/>
        <a:lstStyle/>
        <a:p>
          <a:endParaRPr lang="en-US"/>
        </a:p>
      </dgm:t>
    </dgm:pt>
    <dgm:pt modelId="{B157BC3E-B0EC-42D2-88E4-ADF5BD36468B}">
      <dgm:prSet custT="1"/>
      <dgm:spPr/>
      <dgm:t>
        <a:bodyPr/>
        <a:lstStyle/>
        <a:p>
          <a:r>
            <a:rPr lang="en-US" sz="2000" b="0" dirty="0"/>
            <a:t>distribution for different datasets</a:t>
          </a:r>
        </a:p>
      </dgm:t>
    </dgm:pt>
    <dgm:pt modelId="{00C1E66A-E956-4CEB-BB78-C9CDA3DE8100}" type="parTrans" cxnId="{5047AB99-5343-40E6-924C-408CA05534F6}">
      <dgm:prSet/>
      <dgm:spPr/>
      <dgm:t>
        <a:bodyPr/>
        <a:lstStyle/>
        <a:p>
          <a:endParaRPr lang="en-US"/>
        </a:p>
      </dgm:t>
    </dgm:pt>
    <dgm:pt modelId="{9E8F2C68-CDF9-4002-9A86-A9F687606C16}" type="sibTrans" cxnId="{5047AB99-5343-40E6-924C-408CA05534F6}">
      <dgm:prSet/>
      <dgm:spPr/>
      <dgm:t>
        <a:bodyPr/>
        <a:lstStyle/>
        <a:p>
          <a:endParaRPr lang="en-US"/>
        </a:p>
      </dgm:t>
    </dgm:pt>
    <dgm:pt modelId="{885CEAFC-EACD-4FBC-A302-190CC133F770}">
      <dgm:prSet phldrT="[Text]" custT="1"/>
      <dgm:spPr/>
      <dgm:t>
        <a:bodyPr/>
        <a:lstStyle/>
        <a:p>
          <a:r>
            <a:rPr lang="en-US" sz="2000" b="0" dirty="0"/>
            <a:t>…</a:t>
          </a:r>
        </a:p>
      </dgm:t>
    </dgm:pt>
    <dgm:pt modelId="{7815702A-FFD1-4651-86EE-122645678184}" type="parTrans" cxnId="{EB0C9363-2843-4535-85EC-9C1107569AAE}">
      <dgm:prSet/>
      <dgm:spPr/>
      <dgm:t>
        <a:bodyPr/>
        <a:lstStyle/>
        <a:p>
          <a:endParaRPr lang="en-US"/>
        </a:p>
      </dgm:t>
    </dgm:pt>
    <dgm:pt modelId="{A728FC48-9744-4B0D-9C4E-AF39C3371E8E}" type="sibTrans" cxnId="{EB0C9363-2843-4535-85EC-9C1107569AAE}">
      <dgm:prSet/>
      <dgm:spPr/>
      <dgm:t>
        <a:bodyPr/>
        <a:lstStyle/>
        <a:p>
          <a:endParaRPr lang="en-US"/>
        </a:p>
      </dgm:t>
    </dgm:pt>
    <dgm:pt modelId="{F8A6D5C9-D1B4-483A-92DB-DC18478F7429}">
      <dgm:prSet custT="1"/>
      <dgm:spPr/>
      <dgm:t>
        <a:bodyPr/>
        <a:lstStyle/>
        <a:p>
          <a:r>
            <a:rPr lang="en-US" sz="2000" b="0" dirty="0"/>
            <a:t>….</a:t>
          </a:r>
        </a:p>
      </dgm:t>
    </dgm:pt>
    <dgm:pt modelId="{0F7FC3E1-6A88-462F-AED8-AAA8D6DF339E}" type="parTrans" cxnId="{A7B4C9DE-4795-49EB-B588-3A1ECDCD525D}">
      <dgm:prSet/>
      <dgm:spPr/>
      <dgm:t>
        <a:bodyPr/>
        <a:lstStyle/>
        <a:p>
          <a:endParaRPr lang="en-US"/>
        </a:p>
      </dgm:t>
    </dgm:pt>
    <dgm:pt modelId="{920393D4-107D-478E-B529-DECC35437543}" type="sibTrans" cxnId="{A7B4C9DE-4795-49EB-B588-3A1ECDCD525D}">
      <dgm:prSet/>
      <dgm:spPr/>
      <dgm:t>
        <a:bodyPr/>
        <a:lstStyle/>
        <a:p>
          <a:endParaRPr lang="en-US"/>
        </a:p>
      </dgm:t>
    </dgm:pt>
    <dgm:pt modelId="{99F50FD4-1930-497C-B700-EA5BB9C5B791}">
      <dgm:prSet phldrT="[Text]" custT="1"/>
      <dgm:spPr/>
      <dgm:t>
        <a:bodyPr/>
        <a:lstStyle/>
        <a:p>
          <a:r>
            <a:rPr lang="en-US" sz="2000" b="0" dirty="0"/>
            <a:t>sentence</a:t>
          </a:r>
        </a:p>
      </dgm:t>
    </dgm:pt>
    <dgm:pt modelId="{F17DE1BC-FBEA-4EDF-8393-AB57605A70CA}" type="parTrans" cxnId="{ED14974F-2DEA-4393-ABB1-255A37D3D75B}">
      <dgm:prSet/>
      <dgm:spPr/>
      <dgm:t>
        <a:bodyPr/>
        <a:lstStyle/>
        <a:p>
          <a:endParaRPr lang="en-US"/>
        </a:p>
      </dgm:t>
    </dgm:pt>
    <dgm:pt modelId="{0560C9D5-7F0E-4AD8-80F6-65A94FD452E3}" type="sibTrans" cxnId="{ED14974F-2DEA-4393-ABB1-255A37D3D75B}">
      <dgm:prSet/>
      <dgm:spPr/>
      <dgm:t>
        <a:bodyPr/>
        <a:lstStyle/>
        <a:p>
          <a:endParaRPr lang="en-US"/>
        </a:p>
      </dgm:t>
    </dgm:pt>
    <dgm:pt modelId="{EC95B69D-248C-42CB-A9B0-353477D85E29}">
      <dgm:prSet phldrT="[Text]" custT="1"/>
      <dgm:spPr/>
      <dgm:t>
        <a:bodyPr/>
        <a:lstStyle/>
        <a:p>
          <a:r>
            <a:rPr lang="en-US" sz="2000" b="0" dirty="0"/>
            <a:t>address </a:t>
          </a:r>
        </a:p>
      </dgm:t>
    </dgm:pt>
    <dgm:pt modelId="{ABE6A048-9374-46A0-9EF7-2F5239E12C74}" type="parTrans" cxnId="{1881BA33-57F6-45F0-ACAE-8EEBC774FF96}">
      <dgm:prSet/>
      <dgm:spPr/>
      <dgm:t>
        <a:bodyPr/>
        <a:lstStyle/>
        <a:p>
          <a:endParaRPr lang="en-US"/>
        </a:p>
      </dgm:t>
    </dgm:pt>
    <dgm:pt modelId="{0D2A7DAB-52DD-4DFC-AFDB-E8668C71DE3C}" type="sibTrans" cxnId="{1881BA33-57F6-45F0-ACAE-8EEBC774FF96}">
      <dgm:prSet/>
      <dgm:spPr/>
      <dgm:t>
        <a:bodyPr/>
        <a:lstStyle/>
        <a:p>
          <a:endParaRPr lang="en-US"/>
        </a:p>
      </dgm:t>
    </dgm:pt>
    <dgm:pt modelId="{7462CEBA-0044-47A2-905A-1782C1580244}">
      <dgm:prSet custT="1"/>
      <dgm:spPr/>
      <dgm:t>
        <a:bodyPr/>
        <a:lstStyle/>
        <a:p>
          <a:r>
            <a:rPr lang="en-US" sz="2000" b="0" dirty="0"/>
            <a:t>correct # of bathrooms?</a:t>
          </a:r>
        </a:p>
      </dgm:t>
    </dgm:pt>
    <dgm:pt modelId="{81669731-7B79-4884-9A58-E5081703F231}" type="parTrans" cxnId="{7C88223B-5B41-4019-84D5-15B7DB1D4601}">
      <dgm:prSet/>
      <dgm:spPr/>
      <dgm:t>
        <a:bodyPr/>
        <a:lstStyle/>
        <a:p>
          <a:endParaRPr lang="en-US"/>
        </a:p>
      </dgm:t>
    </dgm:pt>
    <dgm:pt modelId="{289DBD42-A12A-4A47-A1A7-424F31721E54}" type="sibTrans" cxnId="{7C88223B-5B41-4019-84D5-15B7DB1D4601}">
      <dgm:prSet/>
      <dgm:spPr/>
      <dgm:t>
        <a:bodyPr/>
        <a:lstStyle/>
        <a:p>
          <a:endParaRPr lang="en-US"/>
        </a:p>
      </dgm:t>
    </dgm:pt>
    <dgm:pt modelId="{87D0A327-A99C-4CAA-BBF2-7AC2CFB74A35}">
      <dgm:prSet custT="1"/>
      <dgm:spPr/>
      <dgm:t>
        <a:bodyPr/>
        <a:lstStyle/>
        <a:p>
          <a:r>
            <a:rPr lang="en-US" sz="2000" dirty="0"/>
            <a:t>consistent across multiple queries</a:t>
          </a:r>
          <a:endParaRPr lang="en-US" sz="2000" b="0" dirty="0"/>
        </a:p>
      </dgm:t>
    </dgm:pt>
    <dgm:pt modelId="{9B836D2D-ADCF-4A03-87D7-E7C48CDFA2DE}" type="parTrans" cxnId="{A9E54454-E666-488D-9283-03753272F6E7}">
      <dgm:prSet/>
      <dgm:spPr/>
      <dgm:t>
        <a:bodyPr/>
        <a:lstStyle/>
        <a:p>
          <a:endParaRPr lang="en-US"/>
        </a:p>
      </dgm:t>
    </dgm:pt>
    <dgm:pt modelId="{372B4178-3EE0-4DF6-9CA1-BD5C645B28EE}" type="sibTrans" cxnId="{A9E54454-E666-488D-9283-03753272F6E7}">
      <dgm:prSet/>
      <dgm:spPr/>
      <dgm:t>
        <a:bodyPr/>
        <a:lstStyle/>
        <a:p>
          <a:endParaRPr lang="en-US"/>
        </a:p>
      </dgm:t>
    </dgm:pt>
    <dgm:pt modelId="{B5AAB33B-50DB-4D07-BEAA-93C6F9F80877}" type="pres">
      <dgm:prSet presAssocID="{3BC59AB4-59E6-4704-B9DA-A1A57E699CC5}" presName="Name0" presStyleCnt="0">
        <dgm:presLayoutVars>
          <dgm:dir/>
          <dgm:resizeHandles val="exact"/>
        </dgm:presLayoutVars>
      </dgm:prSet>
      <dgm:spPr/>
    </dgm:pt>
    <dgm:pt modelId="{FE542E3E-4B14-4D26-A818-AD00AB4990F1}" type="pres">
      <dgm:prSet presAssocID="{0F002252-5833-434C-9EC1-A4D8F1ECB530}" presName="node" presStyleLbl="node1" presStyleIdx="0" presStyleCnt="3">
        <dgm:presLayoutVars>
          <dgm:bulletEnabled val="1"/>
        </dgm:presLayoutVars>
      </dgm:prSet>
      <dgm:spPr/>
    </dgm:pt>
    <dgm:pt modelId="{CE0C022A-E1F0-4CED-82EC-42CA6E76A507}" type="pres">
      <dgm:prSet presAssocID="{701C8415-A8CD-496D-8E03-2EFCAF278E52}" presName="sibTrans" presStyleLbl="sibTrans2D1" presStyleIdx="0" presStyleCnt="2"/>
      <dgm:spPr/>
    </dgm:pt>
    <dgm:pt modelId="{87F1EAAB-C337-482F-82E5-7C0FCC6B9ED2}" type="pres">
      <dgm:prSet presAssocID="{701C8415-A8CD-496D-8E03-2EFCAF278E52}" presName="connectorText" presStyleLbl="sibTrans2D1" presStyleIdx="0" presStyleCnt="2"/>
      <dgm:spPr/>
    </dgm:pt>
    <dgm:pt modelId="{9E4389EE-D08B-4F45-A594-AD1045E25599}" type="pres">
      <dgm:prSet presAssocID="{D914CF07-7BBA-4D51-8550-2E9B6D1AE7B1}" presName="node" presStyleLbl="node1" presStyleIdx="1" presStyleCnt="3">
        <dgm:presLayoutVars>
          <dgm:bulletEnabled val="1"/>
        </dgm:presLayoutVars>
      </dgm:prSet>
      <dgm:spPr/>
    </dgm:pt>
    <dgm:pt modelId="{4CF868E1-0A4C-4870-8FB2-52CCBDA2012B}" type="pres">
      <dgm:prSet presAssocID="{DC522E44-2E9B-4E7F-9531-ADBFD0DC5E76}" presName="sibTrans" presStyleLbl="sibTrans2D1" presStyleIdx="1" presStyleCnt="2"/>
      <dgm:spPr/>
    </dgm:pt>
    <dgm:pt modelId="{C1902080-E7EA-470B-8598-3395ECCD7EC3}" type="pres">
      <dgm:prSet presAssocID="{DC522E44-2E9B-4E7F-9531-ADBFD0DC5E76}" presName="connectorText" presStyleLbl="sibTrans2D1" presStyleIdx="1" presStyleCnt="2"/>
      <dgm:spPr/>
    </dgm:pt>
    <dgm:pt modelId="{6CA6527A-FF06-4A9F-B27F-B2FF6576080F}" type="pres">
      <dgm:prSet presAssocID="{462F9747-6536-4A41-B505-4E49E7D67459}" presName="node" presStyleLbl="node1" presStyleIdx="2" presStyleCnt="3">
        <dgm:presLayoutVars>
          <dgm:bulletEnabled val="1"/>
        </dgm:presLayoutVars>
      </dgm:prSet>
      <dgm:spPr/>
    </dgm:pt>
  </dgm:ptLst>
  <dgm:cxnLst>
    <dgm:cxn modelId="{F5E6EB00-9FE7-403B-A3E0-E24A675C01D8}" srcId="{D914CF07-7BBA-4D51-8550-2E9B6D1AE7B1}" destId="{1D2FDE3D-5A03-44B2-91BB-45578394BC10}" srcOrd="0" destOrd="0" parTransId="{3204E715-844B-4387-AF40-76DBED58F08F}" sibTransId="{2B992665-2A3F-4B5C-A1F4-397C3B77F617}"/>
    <dgm:cxn modelId="{A0DED410-464A-43CC-8001-98FBB506DB83}" srcId="{3BC59AB4-59E6-4704-B9DA-A1A57E699CC5}" destId="{D914CF07-7BBA-4D51-8550-2E9B6D1AE7B1}" srcOrd="1" destOrd="0" parTransId="{C3C078F9-3B07-4B40-9432-3CC0EFFA6E3C}" sibTransId="{DC522E44-2E9B-4E7F-9531-ADBFD0DC5E76}"/>
    <dgm:cxn modelId="{CD7ADA11-E36C-4B44-9132-BD496AE36F62}" type="presOf" srcId="{701C8415-A8CD-496D-8E03-2EFCAF278E52}" destId="{87F1EAAB-C337-482F-82E5-7C0FCC6B9ED2}" srcOrd="1" destOrd="0" presId="urn:microsoft.com/office/officeart/2005/8/layout/process1"/>
    <dgm:cxn modelId="{326BA215-2B70-4410-9246-1A47132B2236}" type="presOf" srcId="{87D0A327-A99C-4CAA-BBF2-7AC2CFB74A35}" destId="{6CA6527A-FF06-4A9F-B27F-B2FF6576080F}" srcOrd="0" destOrd="2" presId="urn:microsoft.com/office/officeart/2005/8/layout/process1"/>
    <dgm:cxn modelId="{E4AB0328-4F9F-40D8-8678-82F0DA1F0370}" type="presOf" srcId="{D914CF07-7BBA-4D51-8550-2E9B6D1AE7B1}" destId="{9E4389EE-D08B-4F45-A594-AD1045E25599}" srcOrd="0" destOrd="0" presId="urn:microsoft.com/office/officeart/2005/8/layout/process1"/>
    <dgm:cxn modelId="{264C9533-8DA1-46A9-95A0-C6746D785669}" type="presOf" srcId="{99F50FD4-1930-497C-B700-EA5BB9C5B791}" destId="{FE542E3E-4B14-4D26-A818-AD00AB4990F1}" srcOrd="0" destOrd="1" presId="urn:microsoft.com/office/officeart/2005/8/layout/process1"/>
    <dgm:cxn modelId="{1881BA33-57F6-45F0-ACAE-8EEBC774FF96}" srcId="{0F002252-5833-434C-9EC1-A4D8F1ECB530}" destId="{EC95B69D-248C-42CB-A9B0-353477D85E29}" srcOrd="2" destOrd="0" parTransId="{ABE6A048-9374-46A0-9EF7-2F5239E12C74}" sibTransId="{0D2A7DAB-52DD-4DFC-AFDB-E8668C71DE3C}"/>
    <dgm:cxn modelId="{070E1436-1C03-4F41-896E-48966DBCBFCD}" type="presOf" srcId="{0F002252-5833-434C-9EC1-A4D8F1ECB530}" destId="{FE542E3E-4B14-4D26-A818-AD00AB4990F1}" srcOrd="0" destOrd="0" presId="urn:microsoft.com/office/officeart/2005/8/layout/process1"/>
    <dgm:cxn modelId="{7C88223B-5B41-4019-84D5-15B7DB1D4601}" srcId="{D914CF07-7BBA-4D51-8550-2E9B6D1AE7B1}" destId="{7462CEBA-0044-47A2-905A-1782C1580244}" srcOrd="1" destOrd="0" parTransId="{81669731-7B79-4884-9A58-E5081703F231}" sibTransId="{289DBD42-A12A-4A47-A1A7-424F31721E54}"/>
    <dgm:cxn modelId="{BA1F2360-4E35-4B6D-9595-A71CE3D5CE87}" type="presOf" srcId="{885CEAFC-EACD-4FBC-A302-190CC133F770}" destId="{FE542E3E-4B14-4D26-A818-AD00AB4990F1}" srcOrd="0" destOrd="4" presId="urn:microsoft.com/office/officeart/2005/8/layout/process1"/>
    <dgm:cxn modelId="{C33CCC60-1124-4850-8164-1DDE76BAB6D5}" type="presOf" srcId="{7462CEBA-0044-47A2-905A-1782C1580244}" destId="{9E4389EE-D08B-4F45-A594-AD1045E25599}" srcOrd="0" destOrd="2" presId="urn:microsoft.com/office/officeart/2005/8/layout/process1"/>
    <dgm:cxn modelId="{EB0C9363-2843-4535-85EC-9C1107569AAE}" srcId="{0F002252-5833-434C-9EC1-A4D8F1ECB530}" destId="{885CEAFC-EACD-4FBC-A302-190CC133F770}" srcOrd="3" destOrd="0" parTransId="{7815702A-FFD1-4651-86EE-122645678184}" sibTransId="{A728FC48-9744-4B0D-9C4E-AF39C3371E8E}"/>
    <dgm:cxn modelId="{ED14974F-2DEA-4393-ABB1-255A37D3D75B}" srcId="{0F002252-5833-434C-9EC1-A4D8F1ECB530}" destId="{99F50FD4-1930-497C-B700-EA5BB9C5B791}" srcOrd="0" destOrd="0" parTransId="{F17DE1BC-FBEA-4EDF-8393-AB57605A70CA}" sibTransId="{0560C9D5-7F0E-4AD8-80F6-65A94FD452E3}"/>
    <dgm:cxn modelId="{A9E54454-E666-488D-9283-03753272F6E7}" srcId="{462F9747-6536-4A41-B505-4E49E7D67459}" destId="{87D0A327-A99C-4CAA-BBF2-7AC2CFB74A35}" srcOrd="1" destOrd="0" parTransId="{9B836D2D-ADCF-4A03-87D7-E7C48CDFA2DE}" sibTransId="{372B4178-3EE0-4DF6-9CA1-BD5C645B28EE}"/>
    <dgm:cxn modelId="{EF2CD155-C40A-4C27-81A9-C7558CC8D3FB}" type="presOf" srcId="{50748E0E-83F1-4BF4-8CEE-D65722CB9BFA}" destId="{FE542E3E-4B14-4D26-A818-AD00AB4990F1}" srcOrd="0" destOrd="2" presId="urn:microsoft.com/office/officeart/2005/8/layout/process1"/>
    <dgm:cxn modelId="{A1D5D783-762D-40BB-A47E-7324058A6824}" type="presOf" srcId="{701C8415-A8CD-496D-8E03-2EFCAF278E52}" destId="{CE0C022A-E1F0-4CED-82EC-42CA6E76A507}" srcOrd="0" destOrd="0" presId="urn:microsoft.com/office/officeart/2005/8/layout/process1"/>
    <dgm:cxn modelId="{5047AB99-5343-40E6-924C-408CA05534F6}" srcId="{462F9747-6536-4A41-B505-4E49E7D67459}" destId="{B157BC3E-B0EC-42D2-88E4-ADF5BD36468B}" srcOrd="0" destOrd="0" parTransId="{00C1E66A-E956-4CEB-BB78-C9CDA3DE8100}" sibTransId="{9E8F2C68-CDF9-4002-9A86-A9F687606C16}"/>
    <dgm:cxn modelId="{65A6599E-1962-46A6-BB4B-8B28BB3CC3A5}" type="presOf" srcId="{F8A6D5C9-D1B4-483A-92DB-DC18478F7429}" destId="{6CA6527A-FF06-4A9F-B27F-B2FF6576080F}" srcOrd="0" destOrd="3" presId="urn:microsoft.com/office/officeart/2005/8/layout/process1"/>
    <dgm:cxn modelId="{285474BC-D645-4C2D-9517-05470B6E7A80}" type="presOf" srcId="{EC95B69D-248C-42CB-A9B0-353477D85E29}" destId="{FE542E3E-4B14-4D26-A818-AD00AB4990F1}" srcOrd="0" destOrd="3" presId="urn:microsoft.com/office/officeart/2005/8/layout/process1"/>
    <dgm:cxn modelId="{3F416BC5-984F-4B1E-9299-439E79DBBD03}" type="presOf" srcId="{1D2FDE3D-5A03-44B2-91BB-45578394BC10}" destId="{9E4389EE-D08B-4F45-A594-AD1045E25599}" srcOrd="0" destOrd="1" presId="urn:microsoft.com/office/officeart/2005/8/layout/process1"/>
    <dgm:cxn modelId="{827474C6-1331-4C1C-8B6B-DFA7F4914179}" type="presOf" srcId="{DC522E44-2E9B-4E7F-9531-ADBFD0DC5E76}" destId="{4CF868E1-0A4C-4870-8FB2-52CCBDA2012B}" srcOrd="0" destOrd="0" presId="urn:microsoft.com/office/officeart/2005/8/layout/process1"/>
    <dgm:cxn modelId="{BD8E7FCD-66BF-4A25-B42B-BF1C586EA8E5}" srcId="{3BC59AB4-59E6-4704-B9DA-A1A57E699CC5}" destId="{462F9747-6536-4A41-B505-4E49E7D67459}" srcOrd="2" destOrd="0" parTransId="{230D9E86-3E01-40C2-83B6-EDC5AD842104}" sibTransId="{EDB432E5-D6BD-4891-A7B8-5985D65F6358}"/>
    <dgm:cxn modelId="{308BD7CD-7B58-4A8F-B1AE-55C97AC0F68C}" type="presOf" srcId="{B157BC3E-B0EC-42D2-88E4-ADF5BD36468B}" destId="{6CA6527A-FF06-4A9F-B27F-B2FF6576080F}" srcOrd="0" destOrd="1" presId="urn:microsoft.com/office/officeart/2005/8/layout/process1"/>
    <dgm:cxn modelId="{2E1C6BD0-929E-49F6-AA9A-9704DE0807F3}" type="presOf" srcId="{462F9747-6536-4A41-B505-4E49E7D67459}" destId="{6CA6527A-FF06-4A9F-B27F-B2FF6576080F}" srcOrd="0" destOrd="0" presId="urn:microsoft.com/office/officeart/2005/8/layout/process1"/>
    <dgm:cxn modelId="{0311B2DE-AF40-4F2E-A68B-5A0075CCD658}" type="presOf" srcId="{DC522E44-2E9B-4E7F-9531-ADBFD0DC5E76}" destId="{C1902080-E7EA-470B-8598-3395ECCD7EC3}" srcOrd="1" destOrd="0" presId="urn:microsoft.com/office/officeart/2005/8/layout/process1"/>
    <dgm:cxn modelId="{A7B4C9DE-4795-49EB-B588-3A1ECDCD525D}" srcId="{462F9747-6536-4A41-B505-4E49E7D67459}" destId="{F8A6D5C9-D1B4-483A-92DB-DC18478F7429}" srcOrd="2" destOrd="0" parTransId="{0F7FC3E1-6A88-462F-AED8-AAA8D6DF339E}" sibTransId="{920393D4-107D-478E-B529-DECC35437543}"/>
    <dgm:cxn modelId="{35C59DF5-CC31-47D9-8B6A-FB012FE241D9}" srcId="{0F002252-5833-434C-9EC1-A4D8F1ECB530}" destId="{50748E0E-83F1-4BF4-8CEE-D65722CB9BFA}" srcOrd="1" destOrd="0" parTransId="{C9CD115E-099D-4BD7-9063-D45C7F56B450}" sibTransId="{03963BD0-9269-4EEF-AAD2-74F83824C84C}"/>
    <dgm:cxn modelId="{03DE90FB-89DB-4161-81A6-DBFF58937B7A}" type="presOf" srcId="{3BC59AB4-59E6-4704-B9DA-A1A57E699CC5}" destId="{B5AAB33B-50DB-4D07-BEAA-93C6F9F80877}" srcOrd="0" destOrd="0" presId="urn:microsoft.com/office/officeart/2005/8/layout/process1"/>
    <dgm:cxn modelId="{495EB9FB-8346-43AE-B186-567A5C1E3BD9}" srcId="{3BC59AB4-59E6-4704-B9DA-A1A57E699CC5}" destId="{0F002252-5833-434C-9EC1-A4D8F1ECB530}" srcOrd="0" destOrd="0" parTransId="{346E9973-6B31-4F2B-BCE6-E5E6C7621F6C}" sibTransId="{701C8415-A8CD-496D-8E03-2EFCAF278E52}"/>
    <dgm:cxn modelId="{281DBA22-AE2C-4148-B34A-E5DB1589820D}" type="presParOf" srcId="{B5AAB33B-50DB-4D07-BEAA-93C6F9F80877}" destId="{FE542E3E-4B14-4D26-A818-AD00AB4990F1}" srcOrd="0" destOrd="0" presId="urn:microsoft.com/office/officeart/2005/8/layout/process1"/>
    <dgm:cxn modelId="{BA429A72-051C-4F44-94B6-9F273BA4C3C4}" type="presParOf" srcId="{B5AAB33B-50DB-4D07-BEAA-93C6F9F80877}" destId="{CE0C022A-E1F0-4CED-82EC-42CA6E76A507}" srcOrd="1" destOrd="0" presId="urn:microsoft.com/office/officeart/2005/8/layout/process1"/>
    <dgm:cxn modelId="{A6B0B417-BDBA-4484-9BE0-192E33C074A5}" type="presParOf" srcId="{CE0C022A-E1F0-4CED-82EC-42CA6E76A507}" destId="{87F1EAAB-C337-482F-82E5-7C0FCC6B9ED2}" srcOrd="0" destOrd="0" presId="urn:microsoft.com/office/officeart/2005/8/layout/process1"/>
    <dgm:cxn modelId="{EC308C35-DF0A-48B0-9E56-46CDBD78A6FA}" type="presParOf" srcId="{B5AAB33B-50DB-4D07-BEAA-93C6F9F80877}" destId="{9E4389EE-D08B-4F45-A594-AD1045E25599}" srcOrd="2" destOrd="0" presId="urn:microsoft.com/office/officeart/2005/8/layout/process1"/>
    <dgm:cxn modelId="{471326A9-E0E5-40A0-B727-85D5BD1773CF}" type="presParOf" srcId="{B5AAB33B-50DB-4D07-BEAA-93C6F9F80877}" destId="{4CF868E1-0A4C-4870-8FB2-52CCBDA2012B}" srcOrd="3" destOrd="0" presId="urn:microsoft.com/office/officeart/2005/8/layout/process1"/>
    <dgm:cxn modelId="{67A95871-3B02-4A90-9123-83D314F538DA}" type="presParOf" srcId="{4CF868E1-0A4C-4870-8FB2-52CCBDA2012B}" destId="{C1902080-E7EA-470B-8598-3395ECCD7EC3}" srcOrd="0" destOrd="0" presId="urn:microsoft.com/office/officeart/2005/8/layout/process1"/>
    <dgm:cxn modelId="{6BE194D1-6C8F-45C2-8B9D-885A108D28C0}" type="presParOf" srcId="{B5AAB33B-50DB-4D07-BEAA-93C6F9F80877}" destId="{6CA6527A-FF06-4A9F-B27F-B2FF6576080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542E3E-4B14-4D26-A818-AD00AB4990F1}">
      <dsp:nvSpPr>
        <dsp:cNvPr id="0" name=""/>
        <dsp:cNvSpPr/>
      </dsp:nvSpPr>
      <dsp:spPr>
        <a:xfrm>
          <a:off x="10679" y="714322"/>
          <a:ext cx="3191837" cy="26725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What prompts should be to used in GPT 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sentence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format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address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…</a:t>
          </a:r>
        </a:p>
      </dsp:txBody>
      <dsp:txXfrm>
        <a:off x="88955" y="792598"/>
        <a:ext cx="3035285" cy="2515988"/>
      </dsp:txXfrm>
    </dsp:sp>
    <dsp:sp modelId="{CE0C022A-E1F0-4CED-82EC-42CA6E76A507}">
      <dsp:nvSpPr>
        <dsp:cNvPr id="0" name=""/>
        <dsp:cNvSpPr/>
      </dsp:nvSpPr>
      <dsp:spPr>
        <a:xfrm>
          <a:off x="3521700" y="1654804"/>
          <a:ext cx="676669" cy="7915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3521700" y="1813119"/>
        <a:ext cx="473668" cy="474945"/>
      </dsp:txXfrm>
    </dsp:sp>
    <dsp:sp modelId="{9E4389EE-D08B-4F45-A594-AD1045E25599}">
      <dsp:nvSpPr>
        <dsp:cNvPr id="0" name=""/>
        <dsp:cNvSpPr/>
      </dsp:nvSpPr>
      <dsp:spPr>
        <a:xfrm>
          <a:off x="4479252" y="714322"/>
          <a:ext cx="3191837" cy="26725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Is GPT’s prediction accurate?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correct # of bedrooms?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correct # of bathrooms?</a:t>
          </a:r>
        </a:p>
      </dsp:txBody>
      <dsp:txXfrm>
        <a:off x="4557528" y="792598"/>
        <a:ext cx="3035285" cy="2515988"/>
      </dsp:txXfrm>
    </dsp:sp>
    <dsp:sp modelId="{4CF868E1-0A4C-4870-8FB2-52CCBDA2012B}">
      <dsp:nvSpPr>
        <dsp:cNvPr id="0" name=""/>
        <dsp:cNvSpPr/>
      </dsp:nvSpPr>
      <dsp:spPr>
        <a:xfrm>
          <a:off x="7990273" y="1654804"/>
          <a:ext cx="676669" cy="7915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7990273" y="1813119"/>
        <a:ext cx="473668" cy="474945"/>
      </dsp:txXfrm>
    </dsp:sp>
    <dsp:sp modelId="{6CA6527A-FF06-4A9F-B27F-B2FF6576080F}">
      <dsp:nvSpPr>
        <dsp:cNvPr id="0" name=""/>
        <dsp:cNvSpPr/>
      </dsp:nvSpPr>
      <dsp:spPr>
        <a:xfrm>
          <a:off x="8947825" y="714322"/>
          <a:ext cx="3191837" cy="26725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How robust is GPT’s prediction?</a:t>
          </a:r>
          <a:endParaRPr lang="en-US" sz="24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distribution for different datasets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consistent across multiple queries</a:t>
          </a:r>
          <a:endParaRPr lang="en-US" sz="20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….</a:t>
          </a:r>
        </a:p>
      </dsp:txBody>
      <dsp:txXfrm>
        <a:off x="9026101" y="792598"/>
        <a:ext cx="3035285" cy="25159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D9AF8A0-62DE-5965-6D05-494523E41E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F807A-1DAA-D7D1-0641-C9C0F81C3C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D0218-03EC-494F-BE03-0EDC6D5664DB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1A617-23B6-4A2F-01C7-0EAD887892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83726-48DA-0CBD-6B2B-6B9722E6EF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22AAA-77DD-482A-BA5B-0F759C32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386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BEE4BD-3348-4117-B6B9-0BECC7AE87EB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3C60E-7BB7-4A1E-B85D-666D4B0D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689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B0156-ABF3-7000-DB95-657CC6AD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4C0F81-894A-C675-E8A4-A38383018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63CB3-F1CC-625E-3085-AE73B75B6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to 3 projects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D4E08-1413-3641-D968-DCB5F4EAC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758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to 3 projects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43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Greeen</a:t>
            </a:r>
            <a:r>
              <a:rPr lang="en-US" dirty="0"/>
              <a:t> is more,</a:t>
            </a:r>
          </a:p>
          <a:p>
            <a:r>
              <a:rPr lang="en-US" dirty="0"/>
              <a:t>Red is less </a:t>
            </a:r>
          </a:p>
          <a:p>
            <a:r>
              <a:rPr lang="en-US" dirty="0"/>
              <a:t>Yellow similar</a:t>
            </a:r>
          </a:p>
          <a:p>
            <a:r>
              <a:rPr lang="en-US" dirty="0"/>
              <a:t>What features were lost do we care</a:t>
            </a:r>
          </a:p>
          <a:p>
            <a:r>
              <a:rPr lang="en-US" dirty="0"/>
              <a:t>-2 and -1 more accurate? Do we believe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02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Calibri Light" panose="020F0302020204030204" pitchFamily="34" charset="0"/>
              </a:rPr>
              <a:t>AI Property Attributes Prediction Using GPT)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79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for less wrong and color code list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33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7A33E-C40E-8A38-B54E-4869345FA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4A81D-99D5-09A6-4F9E-09A3BBECA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427BB-18A3-3CB2-4DD3-A9B9067D3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for less wrong and color code list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8C28E-5501-56A2-EBF2-2280CC373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57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0.6 M are both no features, 16.1 M are ok in V4, 16.5 M are ok in V5</a:t>
            </a:r>
          </a:p>
          <a:p>
            <a:endParaRPr lang="en-US" dirty="0"/>
          </a:p>
          <a:p>
            <a:r>
              <a:rPr lang="en-US" dirty="0"/>
              <a:t>V4 can produce features for 16.1 MM images</a:t>
            </a:r>
          </a:p>
          <a:p>
            <a:r>
              <a:rPr lang="en-US" dirty="0"/>
              <a:t>V5 can produce features for 16..6 MM images</a:t>
            </a:r>
          </a:p>
          <a:p>
            <a:r>
              <a:rPr lang="en-US" dirty="0"/>
              <a:t>The common part is 16 MM.</a:t>
            </a:r>
          </a:p>
          <a:p>
            <a:endParaRPr lang="en-US" dirty="0"/>
          </a:p>
          <a:p>
            <a:r>
              <a:rPr lang="en-US" dirty="0"/>
              <a:t>Both give the same </a:t>
            </a:r>
            <a:r>
              <a:rPr lang="en-US" dirty="0" err="1"/>
              <a:t>numer</a:t>
            </a:r>
            <a:r>
              <a:rPr lang="en-US" dirty="0"/>
              <a:t> with slightly different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154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are ['cape_accessory_structure_footprint_v4'] count 979967.000000 mean 992.120949 std 1750.109206 min 110.000000 25% 200.000000 50% 430.000000 75% 850.000000 max 10770.000000 Name: cape_accessory_structure_footprint_v4, </a:t>
            </a:r>
            <a:r>
              <a:rPr lang="en-US" dirty="0" err="1"/>
              <a:t>dtype</a:t>
            </a:r>
            <a:r>
              <a:rPr lang="en-US" dirty="0"/>
              <a:t>: float64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83C60E-7BB7-4A1E-B85D-666D4B0DD1C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76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D76A-D432-4240-AFC7-55825D757297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08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BED2-2121-4873-9F19-A95842714A71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06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25FE-234F-4DAC-A9F7-D5F39ECED1DB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92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D311-BF41-46F9-89AC-0CD2E062ACC8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07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4AFB-3733-430F-B048-99080FDE6BC7}" type="datetime1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30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5B6BE-7136-4C1A-ACFE-944DD0D93C31}" type="datetime1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5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E0E3-3410-4183-BD7B-2C9E54FB2479}" type="datetime1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1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1E59-E905-46AD-8B7C-A7D080BC90A6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8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9D4B-BABF-4EF5-AFF7-7CD39B831705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88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DB4D-043C-442E-999C-9B26B83F6604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30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BEAFE-4A9B-46F8-A98D-58DC6137F9F5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05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BA63BBE0-E6AC-FF46-84EF-6B9B6A3B31F5}"/>
              </a:ext>
            </a:extLst>
          </p:cNvPr>
          <p:cNvSpPr/>
          <p:nvPr userDrawn="1"/>
        </p:nvSpPr>
        <p:spPr>
          <a:xfrm rot="10800000">
            <a:off x="-12700" y="-25835"/>
            <a:ext cx="12217400" cy="5605714"/>
          </a:xfrm>
          <a:custGeom>
            <a:avLst/>
            <a:gdLst>
              <a:gd name="connsiteX0" fmla="*/ 0 w 12192000"/>
              <a:gd name="connsiteY0" fmla="*/ 0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0 w 12192000"/>
              <a:gd name="connsiteY4" fmla="*/ 0 h 2341814"/>
              <a:gd name="connsiteX0" fmla="*/ 35169 w 12192000"/>
              <a:gd name="connsiteY0" fmla="*/ 1746739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35169 w 12192000"/>
              <a:gd name="connsiteY4" fmla="*/ 1746739 h 2341814"/>
              <a:gd name="connsiteX0" fmla="*/ 11723 w 12192000"/>
              <a:gd name="connsiteY0" fmla="*/ 1066801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11723 w 12192000"/>
              <a:gd name="connsiteY4" fmla="*/ 1066801 h 2341814"/>
              <a:gd name="connsiteX0" fmla="*/ 0 w 12192000"/>
              <a:gd name="connsiteY0" fmla="*/ 1078524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0 w 12192000"/>
              <a:gd name="connsiteY4" fmla="*/ 1078524 h 2341814"/>
              <a:gd name="connsiteX0" fmla="*/ 0 w 12192000"/>
              <a:gd name="connsiteY0" fmla="*/ 1060236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0 w 12192000"/>
              <a:gd name="connsiteY4" fmla="*/ 1060236 h 2341814"/>
              <a:gd name="connsiteX0" fmla="*/ 0 w 12204700"/>
              <a:gd name="connsiteY0" fmla="*/ 1060236 h 5605714"/>
              <a:gd name="connsiteX1" fmla="*/ 12192000 w 12204700"/>
              <a:gd name="connsiteY1" fmla="*/ 0 h 5605714"/>
              <a:gd name="connsiteX2" fmla="*/ 12204700 w 12204700"/>
              <a:gd name="connsiteY2" fmla="*/ 5605714 h 5605714"/>
              <a:gd name="connsiteX3" fmla="*/ 0 w 12204700"/>
              <a:gd name="connsiteY3" fmla="*/ 2341814 h 5605714"/>
              <a:gd name="connsiteX4" fmla="*/ 0 w 12204700"/>
              <a:gd name="connsiteY4" fmla="*/ 1060236 h 5605714"/>
              <a:gd name="connsiteX0" fmla="*/ 12700 w 12217400"/>
              <a:gd name="connsiteY0" fmla="*/ 1060236 h 5605714"/>
              <a:gd name="connsiteX1" fmla="*/ 12204700 w 12217400"/>
              <a:gd name="connsiteY1" fmla="*/ 0 h 5605714"/>
              <a:gd name="connsiteX2" fmla="*/ 12217400 w 12217400"/>
              <a:gd name="connsiteY2" fmla="*/ 5605714 h 5605714"/>
              <a:gd name="connsiteX3" fmla="*/ 0 w 12217400"/>
              <a:gd name="connsiteY3" fmla="*/ 5605714 h 5605714"/>
              <a:gd name="connsiteX4" fmla="*/ 12700 w 12217400"/>
              <a:gd name="connsiteY4" fmla="*/ 1060236 h 560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7400" h="5605714">
                <a:moveTo>
                  <a:pt x="12700" y="1060236"/>
                </a:moveTo>
                <a:lnTo>
                  <a:pt x="12204700" y="0"/>
                </a:lnTo>
                <a:cubicBezTo>
                  <a:pt x="12208933" y="1868571"/>
                  <a:pt x="12213167" y="3737143"/>
                  <a:pt x="12217400" y="5605714"/>
                </a:cubicBezTo>
                <a:lnTo>
                  <a:pt x="0" y="5605714"/>
                </a:lnTo>
                <a:cubicBezTo>
                  <a:pt x="4233" y="4090555"/>
                  <a:pt x="8467" y="2575395"/>
                  <a:pt x="12700" y="1060236"/>
                </a:cubicBezTo>
                <a:close/>
              </a:path>
            </a:pathLst>
          </a:custGeom>
          <a:solidFill>
            <a:srgbClr val="009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1ED16B-E150-2345-A958-C57EEF15B8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0802" y="5309086"/>
            <a:ext cx="3643600" cy="105631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D4A8DCE-B201-3940-9834-07E260718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746092"/>
            <a:ext cx="10185400" cy="2387600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C11B710-CBC4-2847-9FBF-BD14F19C2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200" y="3345788"/>
            <a:ext cx="10185400" cy="116930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Whitney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1473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70A41-E445-47AB-9E6B-5CEB0EA0843A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86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prac-home/HO_2025_SummerDriving-distance-for-Prospect-Table" TargetMode="External"/><Relationship Id="rId5" Type="http://schemas.openxmlformats.org/officeDocument/2006/relationships/hyperlink" Target="https://plymouthrock.sharepoint.com/sites/Home-DataScience/Shared%20Documents/Forms/AllItems.aspx?id=%2Fsites%2FHome%2DDataScience%2FShared%20Documents%2FProjects%2FAdHoc%2F2025InternSummer%20Driving%20distance%20for%20Prospect%20Table&amp;p=true&amp;ga=1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E7D39-EF11-0344-8055-648D193803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Advanced Analytics Summer Intern Report</a:t>
            </a:r>
            <a:br>
              <a:rPr lang="en-US" sz="4000" dirty="0">
                <a:effectLst/>
                <a:latin typeface="Calibri Light" panose="020F0302020204030204" pitchFamily="34" charset="0"/>
              </a:rPr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C5D53-4122-7346-B54E-8A61CEBF5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200" y="4150857"/>
            <a:ext cx="10185400" cy="1169308"/>
          </a:xfrm>
        </p:spPr>
        <p:txBody>
          <a:bodyPr>
            <a:normAutofit/>
          </a:bodyPr>
          <a:lstStyle/>
          <a:p>
            <a:r>
              <a:rPr lang="en-US" sz="3200" dirty="0"/>
              <a:t>Wei Zhang</a:t>
            </a:r>
          </a:p>
        </p:txBody>
      </p:sp>
    </p:spTree>
    <p:extLst>
      <p:ext uri="{BB962C8B-B14F-4D97-AF65-F5344CB8AC3E}">
        <p14:creationId xmlns:p14="http://schemas.microsoft.com/office/powerpoint/2010/main" val="2774411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B3C5-CADB-6F43-4387-E33DABCEC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AACC147-368E-A545-CE11-51D209A719F4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7D16FF7-3B0A-E1FC-C309-F118A80A6D7A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D4D362E-E7DE-7241-2B38-994F5F1531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E833C0-6037-7CF8-8BBC-6A09384CB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876AE4D1-C23A-3630-4F7B-3920C5B34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pic>
        <p:nvPicPr>
          <p:cNvPr id="2" name="Picture 1" descr="A person standing in front of a large white building with Ohio Statehouse in the background&#10;&#10;AI-generated content may be incorrect.">
            <a:extLst>
              <a:ext uri="{FF2B5EF4-FFF2-40B4-BE49-F238E27FC236}">
                <a16:creationId xmlns:a16="http://schemas.microsoft.com/office/drawing/2014/main" id="{EC578485-9A2E-0299-F06E-9FAD31390C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760" y="3005743"/>
            <a:ext cx="5019240" cy="225724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3F3FF85-89B8-C42E-C4BE-14022001945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Wei Zhang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92C039-3F68-658D-5559-76194C46D70C}"/>
              </a:ext>
            </a:extLst>
          </p:cNvPr>
          <p:cNvSpPr/>
          <p:nvPr/>
        </p:nvSpPr>
        <p:spPr>
          <a:xfrm>
            <a:off x="-1" y="1329424"/>
            <a:ext cx="2376149" cy="224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92D2"/>
                </a:solidFill>
              </a:rPr>
              <a:t>Education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96E8D8-C8F5-A3BF-35BF-C74777C87C83}"/>
              </a:ext>
            </a:extLst>
          </p:cNvPr>
          <p:cNvSpPr txBox="1"/>
          <p:nvPr/>
        </p:nvSpPr>
        <p:spPr>
          <a:xfrm>
            <a:off x="1064" y="1708158"/>
            <a:ext cx="3876233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Bachelor in Geophysics and Computer Science, University of Science and Technology of China</a:t>
            </a:r>
          </a:p>
          <a:p>
            <a:pPr>
              <a:spcAft>
                <a:spcPts val="600"/>
              </a:spcAft>
            </a:pPr>
            <a:endParaRPr 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Ph.D. candidate in Electrical and Computer Engineering, Boston University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799718-DE12-D79C-CB13-49FFE3C78E72}"/>
              </a:ext>
            </a:extLst>
          </p:cNvPr>
          <p:cNvSpPr txBox="1"/>
          <p:nvPr/>
        </p:nvSpPr>
        <p:spPr>
          <a:xfrm>
            <a:off x="5060" y="5036532"/>
            <a:ext cx="3881141" cy="15542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Badminton 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Board games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Reading </a:t>
            </a:r>
          </a:p>
          <a:p>
            <a:pPr>
              <a:spcAft>
                <a:spcPts val="600"/>
              </a:spcAft>
            </a:pPr>
            <a:endParaRPr lang="en-US" sz="20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person holding a camera in the snow&#10;&#10;AI-generated content may be incorrect.">
            <a:extLst>
              <a:ext uri="{FF2B5EF4-FFF2-40B4-BE49-F238E27FC236}">
                <a16:creationId xmlns:a16="http://schemas.microsoft.com/office/drawing/2014/main" id="{6DDCF90B-E5B9-20B0-B988-98BF5D242C9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371" y="-327"/>
            <a:ext cx="3885142" cy="582771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2C59118-EED5-F2CC-7356-C1E510B38BE8}"/>
              </a:ext>
            </a:extLst>
          </p:cNvPr>
          <p:cNvSpPr/>
          <p:nvPr/>
        </p:nvSpPr>
        <p:spPr>
          <a:xfrm>
            <a:off x="3995" y="4651843"/>
            <a:ext cx="1623060" cy="358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0092D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Leisure</a:t>
            </a:r>
          </a:p>
        </p:txBody>
      </p:sp>
      <p:pic>
        <p:nvPicPr>
          <p:cNvPr id="11" name="Picture 10" descr="A tall monument in the distance with Washington Monument in the background&#10;&#10;AI-generated content may be incorrect.">
            <a:extLst>
              <a:ext uri="{FF2B5EF4-FFF2-40B4-BE49-F238E27FC236}">
                <a16:creationId xmlns:a16="http://schemas.microsoft.com/office/drawing/2014/main" id="{C7255619-B1E0-6B19-F999-2A5999AF559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628" y="3608618"/>
            <a:ext cx="1811547" cy="27173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6648D1A-53E0-F4A6-20B6-9587AD8B88BB}"/>
              </a:ext>
            </a:extLst>
          </p:cNvPr>
          <p:cNvSpPr txBox="1"/>
          <p:nvPr/>
        </p:nvSpPr>
        <p:spPr>
          <a:xfrm>
            <a:off x="8991532" y="5750707"/>
            <a:ext cx="364430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500" b="1" dirty="0">
                <a:solidFill>
                  <a:srgbClr val="000000"/>
                </a:solidFill>
              </a:rPr>
              <a:t>Washington DC., 2024</a:t>
            </a:r>
          </a:p>
        </p:txBody>
      </p:sp>
      <p:pic>
        <p:nvPicPr>
          <p:cNvPr id="12" name="Picture 11" descr="A snow covered landscape with mountains in the background">
            <a:extLst>
              <a:ext uri="{FF2B5EF4-FFF2-40B4-BE49-F238E27FC236}">
                <a16:creationId xmlns:a16="http://schemas.microsoft.com/office/drawing/2014/main" id="{40EBB603-8FC5-8EE6-11D8-CDCDCC8A860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406" y="152073"/>
            <a:ext cx="4542993" cy="30286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85C5CB5-54AB-FC4D-EB7F-582577EF3D86}"/>
              </a:ext>
            </a:extLst>
          </p:cNvPr>
          <p:cNvSpPr txBox="1"/>
          <p:nvPr/>
        </p:nvSpPr>
        <p:spPr>
          <a:xfrm>
            <a:off x="6894724" y="370009"/>
            <a:ext cx="364430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500" b="1">
                <a:solidFill>
                  <a:srgbClr val="000000"/>
                </a:solidFill>
              </a:rPr>
              <a:t>White Sand NP, 2023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F311E74-8697-28A1-BC61-4B1143BC8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228" y="53590"/>
            <a:ext cx="10185400" cy="1169308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Wei Zhang</a:t>
            </a:r>
          </a:p>
        </p:txBody>
      </p:sp>
    </p:spTree>
    <p:extLst>
      <p:ext uri="{BB962C8B-B14F-4D97-AF65-F5344CB8AC3E}">
        <p14:creationId xmlns:p14="http://schemas.microsoft.com/office/powerpoint/2010/main" val="886045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/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3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2698" y="505538"/>
            <a:ext cx="5225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332698" y="1579589"/>
            <a:ext cx="10286145" cy="2934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buAutoNum type="arabicPeriod"/>
            </a:pPr>
            <a:r>
              <a:rPr lang="en-US" sz="3200" dirty="0"/>
              <a:t>Summary for projects 1&amp;2</a:t>
            </a:r>
          </a:p>
          <a:p>
            <a:pPr marL="514350" indent="-514350" algn="l">
              <a:buAutoNum type="arabicPeriod"/>
            </a:pPr>
            <a:r>
              <a:rPr lang="en-US" sz="3200" dirty="0"/>
              <a:t>Dive into the GPT project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Background 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Objectives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Results and Evaluation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327008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D811-B017-416A-DCCC-DF4871B9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9771AE8-76B7-6FD3-F87A-53C5CB6F2FDF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EF856B-E312-F040-6C17-B5AAB9A46976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85F678-9769-ADD8-843F-AC380EAC31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F3CDF1-BB71-9B94-4084-8CA4772B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4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82D688B3-5506-0DFF-51D4-BA2E1DF2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82A17-C855-D2A5-58A3-6EED9B082AA6}"/>
              </a:ext>
            </a:extLst>
          </p:cNvPr>
          <p:cNvGrpSpPr/>
          <p:nvPr/>
        </p:nvGrpSpPr>
        <p:grpSpPr>
          <a:xfrm>
            <a:off x="240590" y="995968"/>
            <a:ext cx="10477955" cy="3300406"/>
            <a:chOff x="1590640" y="1083219"/>
            <a:chExt cx="10477955" cy="330040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F926B4B-AE3D-CA55-4771-97AD2AA56C58}"/>
                </a:ext>
              </a:extLst>
            </p:cNvPr>
            <p:cNvSpPr txBox="1"/>
            <p:nvPr/>
          </p:nvSpPr>
          <p:spPr>
            <a:xfrm>
              <a:off x="5972595" y="3628505"/>
              <a:ext cx="6096000" cy="3354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800"/>
                </a:lnSpc>
                <a:spcBef>
                  <a:spcPts val="500"/>
                </a:spcBef>
                <a:spcAft>
                  <a:spcPts val="500"/>
                </a:spcAft>
                <a:buNone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120 features in V5. 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C856B5D-FBED-3E8E-E7E8-E6AAE5BE6C39}"/>
                </a:ext>
              </a:extLst>
            </p:cNvPr>
            <p:cNvGrpSpPr/>
            <p:nvPr/>
          </p:nvGrpSpPr>
          <p:grpSpPr>
            <a:xfrm>
              <a:off x="1590640" y="1083219"/>
              <a:ext cx="7128138" cy="3300406"/>
              <a:chOff x="1590640" y="1083219"/>
              <a:chExt cx="7128138" cy="3300406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1B129CA4-891D-1417-1576-2A0CF101660F}"/>
                  </a:ext>
                </a:extLst>
              </p:cNvPr>
              <p:cNvGrpSpPr/>
              <p:nvPr/>
            </p:nvGrpSpPr>
            <p:grpSpPr>
              <a:xfrm>
                <a:off x="3059459" y="1083219"/>
                <a:ext cx="5659319" cy="3218823"/>
                <a:chOff x="6966184" y="147609"/>
                <a:chExt cx="5659319" cy="3218823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6A5597CC-040F-B87C-29DD-CC27EF74391A}"/>
                    </a:ext>
                  </a:extLst>
                </p:cNvPr>
                <p:cNvSpPr/>
                <p:nvPr/>
              </p:nvSpPr>
              <p:spPr>
                <a:xfrm>
                  <a:off x="6966184" y="147609"/>
                  <a:ext cx="3559140" cy="3218823"/>
                </a:xfrm>
                <a:prstGeom prst="ellipse">
                  <a:avLst/>
                </a:prstGeom>
                <a:solidFill>
                  <a:schemeClr val="accent1">
                    <a:lumMod val="75000"/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8CB4878A-114A-834D-1BF7-8B867DE09AF2}"/>
                    </a:ext>
                  </a:extLst>
                </p:cNvPr>
                <p:cNvSpPr/>
                <p:nvPr/>
              </p:nvSpPr>
              <p:spPr>
                <a:xfrm>
                  <a:off x="8745754" y="370622"/>
                  <a:ext cx="2633575" cy="2696127"/>
                </a:xfrm>
                <a:prstGeom prst="ellipse">
                  <a:avLst/>
                </a:prstGeom>
                <a:solidFill>
                  <a:schemeClr val="accent1">
                    <a:lumMod val="75000"/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119521A-A7DC-D93E-AE61-86D63F5FC7B0}"/>
                    </a:ext>
                  </a:extLst>
                </p:cNvPr>
                <p:cNvSpPr txBox="1"/>
                <p:nvPr/>
              </p:nvSpPr>
              <p:spPr>
                <a:xfrm>
                  <a:off x="7068713" y="1255086"/>
                  <a:ext cx="154188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bg1"/>
                      </a:solidFill>
                    </a:rPr>
                    <a:t>166 features only in V4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296C975-ADAF-0A37-4E8B-764717F788BD}"/>
                    </a:ext>
                  </a:extLst>
                </p:cNvPr>
                <p:cNvSpPr txBox="1"/>
                <p:nvPr/>
              </p:nvSpPr>
              <p:spPr>
                <a:xfrm>
                  <a:off x="8885846" y="1357019"/>
                  <a:ext cx="1708293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</a:rPr>
                    <a:t>71 common features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5DE4A2-FA88-27ED-589D-337C660BDFB5}"/>
                    </a:ext>
                  </a:extLst>
                </p:cNvPr>
                <p:cNvSpPr txBox="1"/>
                <p:nvPr/>
              </p:nvSpPr>
              <p:spPr>
                <a:xfrm>
                  <a:off x="10521667" y="1450801"/>
                  <a:ext cx="2103836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bg1"/>
                      </a:solidFill>
                    </a:rPr>
                    <a:t>49 features</a:t>
                  </a:r>
                </a:p>
                <a:p>
                  <a:r>
                    <a:rPr lang="en-US" sz="1600" b="1" dirty="0">
                      <a:solidFill>
                        <a:schemeClr val="bg1"/>
                      </a:solidFill>
                    </a:rPr>
                    <a:t>Only in V5</a:t>
                  </a:r>
                </a:p>
              </p:txBody>
            </p:sp>
          </p:grp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7813823-316D-E07F-FC9A-877DFD30FAE7}"/>
                  </a:ext>
                </a:extLst>
              </p:cNvPr>
              <p:cNvSpPr/>
              <p:nvPr/>
            </p:nvSpPr>
            <p:spPr>
              <a:xfrm>
                <a:off x="2764697" y="1083291"/>
                <a:ext cx="3853902" cy="3299348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E963506-DC98-8CA7-6F50-69B507B31497}"/>
                  </a:ext>
                </a:extLst>
              </p:cNvPr>
              <p:cNvSpPr txBox="1"/>
              <p:nvPr/>
            </p:nvSpPr>
            <p:spPr>
              <a:xfrm>
                <a:off x="1590640" y="3921960"/>
                <a:ext cx="62020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237 features in V4</a:t>
                </a:r>
                <a:endParaRPr lang="en-US" sz="2400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18D82BE-6475-C7C0-1294-09B40108B9FB}"/>
                  </a:ext>
                </a:extLst>
              </p:cNvPr>
              <p:cNvSpPr/>
              <p:nvPr/>
            </p:nvSpPr>
            <p:spPr>
              <a:xfrm>
                <a:off x="4794177" y="1306232"/>
                <a:ext cx="2839075" cy="2710686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458153B-CE1F-8F3D-7869-0B704523CACC}"/>
              </a:ext>
            </a:extLst>
          </p:cNvPr>
          <p:cNvSpPr txBox="1"/>
          <p:nvPr/>
        </p:nvSpPr>
        <p:spPr>
          <a:xfrm>
            <a:off x="-1794" y="-14868"/>
            <a:ext cx="122203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cs typeface="Arial" panose="020B0604020202020204" pitchFamily="34" charset="0"/>
              </a:rPr>
              <a:t>Project 1, Objective: what changed  from V4 to V5 in Cape data</a:t>
            </a:r>
            <a:endParaRPr lang="en-US" sz="2800" b="1" dirty="0">
              <a:solidFill>
                <a:schemeClr val="accent5">
                  <a:lumMod val="7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898C78-702C-BDD8-19B0-71D0635635B6}"/>
              </a:ext>
            </a:extLst>
          </p:cNvPr>
          <p:cNvSpPr/>
          <p:nvPr/>
        </p:nvSpPr>
        <p:spPr>
          <a:xfrm>
            <a:off x="7896474" y="810745"/>
            <a:ext cx="4139116" cy="3723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842696F-C41E-55F6-9D44-CCB5898509E3}"/>
              </a:ext>
            </a:extLst>
          </p:cNvPr>
          <p:cNvSpPr/>
          <p:nvPr/>
        </p:nvSpPr>
        <p:spPr>
          <a:xfrm>
            <a:off x="8671437" y="1417443"/>
            <a:ext cx="3047743" cy="3040559"/>
          </a:xfrm>
          <a:prstGeom prst="ellipse">
            <a:avLst/>
          </a:prstGeom>
          <a:solidFill>
            <a:schemeClr val="tx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5A11A3A-5017-6B07-837A-A605E6EB08BB}"/>
              </a:ext>
            </a:extLst>
          </p:cNvPr>
          <p:cNvSpPr/>
          <p:nvPr/>
        </p:nvSpPr>
        <p:spPr>
          <a:xfrm>
            <a:off x="8477181" y="1417443"/>
            <a:ext cx="3047743" cy="3040559"/>
          </a:xfrm>
          <a:prstGeom prst="ellipse">
            <a:avLst/>
          </a:prstGeom>
          <a:solidFill>
            <a:schemeClr val="tx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B74369-E915-8198-0461-0F58F5FE77E5}"/>
              </a:ext>
            </a:extLst>
          </p:cNvPr>
          <p:cNvSpPr txBox="1"/>
          <p:nvPr/>
        </p:nvSpPr>
        <p:spPr>
          <a:xfrm>
            <a:off x="8804991" y="2504310"/>
            <a:ext cx="2318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Features available both from V4 and V5 : ~3.9060 MM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797874-4D98-FF6B-87D4-D8F945636B0F}"/>
              </a:ext>
            </a:extLst>
          </p:cNvPr>
          <p:cNvSpPr txBox="1"/>
          <p:nvPr/>
        </p:nvSpPr>
        <p:spPr>
          <a:xfrm>
            <a:off x="8315559" y="1452170"/>
            <a:ext cx="15646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V4 with features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: 3.9106 MM</a:t>
            </a:r>
          </a:p>
          <a:p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B547D8-4862-63AD-DA65-A40356128F78}"/>
              </a:ext>
            </a:extLst>
          </p:cNvPr>
          <p:cNvSpPr txBox="1"/>
          <p:nvPr/>
        </p:nvSpPr>
        <p:spPr>
          <a:xfrm>
            <a:off x="10627333" y="1452170"/>
            <a:ext cx="15646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V5 with features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: 3.9110 MM</a:t>
            </a:r>
          </a:p>
          <a:p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BF514D-A620-89B7-5DD8-F74A321B08E6}"/>
              </a:ext>
            </a:extLst>
          </p:cNvPr>
          <p:cNvSpPr txBox="1"/>
          <p:nvPr/>
        </p:nvSpPr>
        <p:spPr>
          <a:xfrm>
            <a:off x="8175249" y="814706"/>
            <a:ext cx="3980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same 4.3 MM new images in April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DE392A-757F-3F64-F2B3-DEF1FA91BD3C}"/>
              </a:ext>
            </a:extLst>
          </p:cNvPr>
          <p:cNvSpPr txBox="1"/>
          <p:nvPr/>
        </p:nvSpPr>
        <p:spPr>
          <a:xfrm>
            <a:off x="26553" y="4973691"/>
            <a:ext cx="12192001" cy="119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18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V4 and V5 data give different features. They look at the images differently.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Features with ‘hail’, ‘pool’, ‘zone’, ‘wildfire’, or ‘yard’ are not included in the current V5, but will be delivered in production.</a:t>
            </a:r>
          </a:p>
        </p:txBody>
      </p:sp>
    </p:spTree>
    <p:extLst>
      <p:ext uri="{BB962C8B-B14F-4D97-AF65-F5344CB8AC3E}">
        <p14:creationId xmlns:p14="http://schemas.microsoft.com/office/powerpoint/2010/main" val="314414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8" grpId="0" animBg="1"/>
      <p:bldP spid="29" grpId="0" animBg="1"/>
      <p:bldP spid="30" grpId="0"/>
      <p:bldP spid="31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D7C8D-81F1-310E-29EF-D804144D0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EA3BC0E-6225-BED5-CAB4-A67ABBFF8C3C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52A1FCF-F0C3-4E92-3DDF-7D6B62CF3BBF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F5BD5DD-6963-8A10-E665-713545E9BB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7D124B-13F0-2833-D5B2-4D0AEE240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5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25273B7F-77BC-E4E3-1020-C7D919F08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58DB97-7641-5AC9-80EB-FE1C34D1129A}"/>
              </a:ext>
            </a:extLst>
          </p:cNvPr>
          <p:cNvSpPr txBox="1"/>
          <p:nvPr/>
        </p:nvSpPr>
        <p:spPr>
          <a:xfrm>
            <a:off x="-2" y="9746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Results: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cape_roof_condition_rating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comparison for example</a:t>
            </a:r>
            <a:endParaRPr lang="en-US" sz="28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BE79DF-CF4E-A6A5-96F1-2689D301D901}"/>
              </a:ext>
            </a:extLst>
          </p:cNvPr>
          <p:cNvSpPr txBox="1"/>
          <p:nvPr/>
        </p:nvSpPr>
        <p:spPr>
          <a:xfrm>
            <a:off x="-4" y="4834455"/>
            <a:ext cx="12192001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Rating 1 has significant difference between V4 and V5, from 24% in V4 to 14 % in V5.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 ratings show similar distributions. Rating 0 is the most common in both versions. 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are working on retro study with Cape to check which version is better.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8B1780-F836-7C1D-6FFB-70437E194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675118"/>
            <a:ext cx="12191999" cy="31784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CEA52A-0EB2-51D8-E67F-2CC48AF98993}"/>
              </a:ext>
            </a:extLst>
          </p:cNvPr>
          <p:cNvSpPr txBox="1"/>
          <p:nvPr/>
        </p:nvSpPr>
        <p:spPr>
          <a:xfrm>
            <a:off x="5260618" y="3952278"/>
            <a:ext cx="7631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V5 compared with V4: </a:t>
            </a:r>
            <a:r>
              <a:rPr lang="en-US" dirty="0"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reduced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 </a:t>
            </a:r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steady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increased</a:t>
            </a:r>
          </a:p>
        </p:txBody>
      </p:sp>
    </p:spTree>
    <p:extLst>
      <p:ext uri="{BB962C8B-B14F-4D97-AF65-F5344CB8AC3E}">
        <p14:creationId xmlns:p14="http://schemas.microsoft.com/office/powerpoint/2010/main" val="2042717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62F96-F986-0BF5-E90B-54C74B47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1D42C85-40D6-C65C-837B-07C373C1C63F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F64C352-B584-7C15-6B67-04AAD5283FAF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96B9083-CC22-D292-01B7-B81FF7F25F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90FA1C-9A17-E37C-D522-8E3CD470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6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5B667785-3658-EF43-B476-F0C5F149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F613B0-74E8-CBB1-9BA6-0B972F3DBFE2}"/>
              </a:ext>
            </a:extLst>
          </p:cNvPr>
          <p:cNvSpPr txBox="1"/>
          <p:nvPr/>
        </p:nvSpPr>
        <p:spPr>
          <a:xfrm>
            <a:off x="0" y="9746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Project 2, Objective: get driving distance and time to fire stations for 18 MM properties within a reasonable time.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48532-9456-B885-2CA3-186C6F777A08}"/>
              </a:ext>
            </a:extLst>
          </p:cNvPr>
          <p:cNvSpPr txBox="1"/>
          <p:nvPr/>
        </p:nvSpPr>
        <p:spPr>
          <a:xfrm>
            <a:off x="256758" y="4133077"/>
            <a:ext cx="11400185" cy="1633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Previous project suggests processing our 18 million properties would require ~ 2,500 hours (~3.5 months).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Table API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submission 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 concurrent pipeline jobs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reduce the running time to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~ 1 week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882180-22AE-AB7A-2864-532918F29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155872"/>
              </p:ext>
            </p:extLst>
          </p:nvPr>
        </p:nvGraphicFramePr>
        <p:xfrm>
          <a:off x="256758" y="1676188"/>
          <a:ext cx="11400185" cy="2114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938">
                  <a:extLst>
                    <a:ext uri="{9D8B030D-6E8A-4147-A177-3AD203B41FA5}">
                      <a16:colId xmlns:a16="http://schemas.microsoft.com/office/drawing/2014/main" val="3925810978"/>
                    </a:ext>
                  </a:extLst>
                </a:gridCol>
                <a:gridCol w="1877903">
                  <a:extLst>
                    <a:ext uri="{9D8B030D-6E8A-4147-A177-3AD203B41FA5}">
                      <a16:colId xmlns:a16="http://schemas.microsoft.com/office/drawing/2014/main" val="1250026412"/>
                    </a:ext>
                  </a:extLst>
                </a:gridCol>
                <a:gridCol w="1272209">
                  <a:extLst>
                    <a:ext uri="{9D8B030D-6E8A-4147-A177-3AD203B41FA5}">
                      <a16:colId xmlns:a16="http://schemas.microsoft.com/office/drawing/2014/main" val="1262421708"/>
                    </a:ext>
                  </a:extLst>
                </a:gridCol>
                <a:gridCol w="1418702">
                  <a:extLst>
                    <a:ext uri="{9D8B030D-6E8A-4147-A177-3AD203B41FA5}">
                      <a16:colId xmlns:a16="http://schemas.microsoft.com/office/drawing/2014/main" val="2487029516"/>
                    </a:ext>
                  </a:extLst>
                </a:gridCol>
                <a:gridCol w="1522938">
                  <a:extLst>
                    <a:ext uri="{9D8B030D-6E8A-4147-A177-3AD203B41FA5}">
                      <a16:colId xmlns:a16="http://schemas.microsoft.com/office/drawing/2014/main" val="1267008730"/>
                    </a:ext>
                  </a:extLst>
                </a:gridCol>
                <a:gridCol w="1522938">
                  <a:extLst>
                    <a:ext uri="{9D8B030D-6E8A-4147-A177-3AD203B41FA5}">
                      <a16:colId xmlns:a16="http://schemas.microsoft.com/office/drawing/2014/main" val="1548693383"/>
                    </a:ext>
                  </a:extLst>
                </a:gridCol>
                <a:gridCol w="2262557">
                  <a:extLst>
                    <a:ext uri="{9D8B030D-6E8A-4147-A177-3AD203B41FA5}">
                      <a16:colId xmlns:a16="http://schemas.microsoft.com/office/drawing/2014/main" val="1553410819"/>
                    </a:ext>
                  </a:extLst>
                </a:gridCol>
              </a:tblGrid>
              <a:tr h="5596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0000"/>
                          </a:highlight>
                        </a:rPr>
                        <a:t>Route API</a:t>
                      </a:r>
                    </a:p>
                    <a:p>
                      <a:r>
                        <a:rPr lang="en-US" dirty="0">
                          <a:highlight>
                            <a:srgbClr val="FF0000"/>
                          </a:highlight>
                        </a:rPr>
                        <a:t>(1x1, previously used)</a:t>
                      </a: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Route with 3 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 API</a:t>
                      </a:r>
                    </a:p>
                    <a:p>
                      <a:r>
                        <a:rPr lang="en-US" dirty="0"/>
                        <a:t>(100x100)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 with </a:t>
                      </a:r>
                      <a:r>
                        <a:rPr lang="en-US" dirty="0" err="1"/>
                        <a:t>Asyncio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 with 3 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Table with 3 processors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439049"/>
                  </a:ext>
                </a:extLst>
              </a:tr>
              <a:tr h="559685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99.259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99.259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0.614</a:t>
                      </a:r>
                      <a:endParaRPr lang="en-US" b="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534597"/>
                  </a:ext>
                </a:extLst>
              </a:tr>
              <a:tr h="559685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999.399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999.257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90.649</a:t>
                      </a:r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Error, Too many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98.926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91.987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38760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C61BCDB-9275-BF87-497E-08122F3B3A4B}"/>
              </a:ext>
            </a:extLst>
          </p:cNvPr>
          <p:cNvSpPr txBox="1"/>
          <p:nvPr/>
        </p:nvSpPr>
        <p:spPr>
          <a:xfrm>
            <a:off x="3711081" y="1058411"/>
            <a:ext cx="2002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Concurrent</a:t>
            </a:r>
          </a:p>
          <a:p>
            <a:r>
              <a:rPr lang="en-US" dirty="0">
                <a:highlight>
                  <a:srgbClr val="00FFFF"/>
                </a:highlight>
              </a:rPr>
              <a:t> route task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747804-3206-60F6-1197-4726D61E8DD9}"/>
              </a:ext>
            </a:extLst>
          </p:cNvPr>
          <p:cNvSpPr txBox="1"/>
          <p:nvPr/>
        </p:nvSpPr>
        <p:spPr>
          <a:xfrm>
            <a:off x="7628797" y="1217073"/>
            <a:ext cx="561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Concurrent table 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4C95EE-A6FF-A470-8621-AC0C2EB787ED}"/>
              </a:ext>
            </a:extLst>
          </p:cNvPr>
          <p:cNvSpPr/>
          <p:nvPr/>
        </p:nvSpPr>
        <p:spPr>
          <a:xfrm>
            <a:off x="3637721" y="993914"/>
            <a:ext cx="1292087" cy="2796440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73166D-A9D3-D4D8-9687-5AF7C88848DF}"/>
              </a:ext>
            </a:extLst>
          </p:cNvPr>
          <p:cNvSpPr/>
          <p:nvPr/>
        </p:nvSpPr>
        <p:spPr>
          <a:xfrm>
            <a:off x="6293835" y="1127290"/>
            <a:ext cx="5363108" cy="2663063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745EE8-FDB6-563B-3240-1A44D950B8B7}"/>
              </a:ext>
            </a:extLst>
          </p:cNvPr>
          <p:cNvSpPr txBox="1"/>
          <p:nvPr/>
        </p:nvSpPr>
        <p:spPr>
          <a:xfrm>
            <a:off x="854765" y="1798983"/>
            <a:ext cx="1053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(s)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C7405E-1F06-810F-59C2-36AF0FD0F9DD}"/>
              </a:ext>
            </a:extLst>
          </p:cNvPr>
          <p:cNvSpPr txBox="1"/>
          <p:nvPr/>
        </p:nvSpPr>
        <p:spPr>
          <a:xfrm>
            <a:off x="208721" y="2219595"/>
            <a:ext cx="1292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(#)</a:t>
            </a:r>
          </a:p>
        </p:txBody>
      </p:sp>
    </p:spTree>
    <p:extLst>
      <p:ext uri="{BB962C8B-B14F-4D97-AF65-F5344CB8AC3E}">
        <p14:creationId xmlns:p14="http://schemas.microsoft.com/office/powerpoint/2010/main" val="4079987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37893-5269-6051-10E7-D80FEF642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23588B3-DF58-9794-7D97-7E3838DBEADE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A4B9025-4157-E5A4-163A-486D72645BBC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8854757-60A3-CA32-67B0-BC4F2344BF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0705BC-56BB-EE58-E9ED-CDA797AB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7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35B525AE-F75D-0D70-6EB0-3C9CD2EBA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2CF8C6-BD9A-FBC7-DEEA-E2828A286A1D}"/>
              </a:ext>
            </a:extLst>
          </p:cNvPr>
          <p:cNvSpPr txBox="1"/>
          <p:nvPr/>
        </p:nvSpPr>
        <p:spPr>
          <a:xfrm>
            <a:off x="-1" y="9746"/>
            <a:ext cx="10402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Results: example verification</a:t>
            </a:r>
            <a:endParaRPr lang="en-US" sz="28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52097C-B91F-D3D1-8BC9-7BCD3955E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72" y="984630"/>
            <a:ext cx="3564868" cy="32090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AC082A-1161-2B89-BBFE-4BFA6AC83F52}"/>
              </a:ext>
            </a:extLst>
          </p:cNvPr>
          <p:cNvSpPr txBox="1"/>
          <p:nvPr/>
        </p:nvSpPr>
        <p:spPr>
          <a:xfrm>
            <a:off x="339831" y="4193669"/>
            <a:ext cx="62055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Our logic Estimation: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0.5 mile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Time: 1.2 min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D7E54A9-62CD-F662-CF2B-629435791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740" y="978257"/>
            <a:ext cx="3417831" cy="3209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744510-C92A-475A-E61F-8B9666E37C4C}"/>
              </a:ext>
            </a:extLst>
          </p:cNvPr>
          <p:cNvSpPr txBox="1"/>
          <p:nvPr/>
        </p:nvSpPr>
        <p:spPr>
          <a:xfrm>
            <a:off x="247057" y="5411705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estimated driving distances and times align with Google map results.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0361D56-9CF9-BB3A-A5CC-AE2C04A0AD6A}"/>
              </a:ext>
            </a:extLst>
          </p:cNvPr>
          <p:cNvSpPr/>
          <p:nvPr/>
        </p:nvSpPr>
        <p:spPr>
          <a:xfrm>
            <a:off x="132072" y="4608251"/>
            <a:ext cx="2634343" cy="582247"/>
          </a:xfrm>
          <a:prstGeom prst="ellipse">
            <a:avLst/>
          </a:prstGeom>
          <a:solidFill>
            <a:srgbClr val="FFFF00">
              <a:alpha val="34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44811F-59EB-B331-58D9-2BE3949B518F}"/>
              </a:ext>
            </a:extLst>
          </p:cNvPr>
          <p:cNvSpPr/>
          <p:nvPr/>
        </p:nvSpPr>
        <p:spPr>
          <a:xfrm>
            <a:off x="4038600" y="4628266"/>
            <a:ext cx="2634343" cy="582247"/>
          </a:xfrm>
          <a:prstGeom prst="ellipse">
            <a:avLst/>
          </a:prstGeom>
          <a:solidFill>
            <a:srgbClr val="FFFF00">
              <a:alpha val="34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9CB7C50-ED51-B07A-1C72-D86A5C07D602}"/>
              </a:ext>
            </a:extLst>
          </p:cNvPr>
          <p:cNvGrpSpPr/>
          <p:nvPr/>
        </p:nvGrpSpPr>
        <p:grpSpPr>
          <a:xfrm>
            <a:off x="7804915" y="1058460"/>
            <a:ext cx="4459972" cy="3722541"/>
            <a:chOff x="7804915" y="1459531"/>
            <a:chExt cx="4459972" cy="372254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BF7B9FA-D77E-F0FB-E55A-A276F3C32E06}"/>
                </a:ext>
              </a:extLst>
            </p:cNvPr>
            <p:cNvSpPr/>
            <p:nvPr/>
          </p:nvSpPr>
          <p:spPr>
            <a:xfrm>
              <a:off x="7875104" y="1459531"/>
              <a:ext cx="4214192" cy="3722541"/>
            </a:xfrm>
            <a:prstGeom prst="rect">
              <a:avLst/>
            </a:prstGeom>
            <a:solidFill>
              <a:schemeClr val="accent1">
                <a:alpha val="1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BD2B161A-3807-644E-F3D8-3BBD5490FBBD}"/>
                </a:ext>
              </a:extLst>
            </p:cNvPr>
            <p:cNvSpPr txBox="1">
              <a:spLocks/>
            </p:cNvSpPr>
            <p:nvPr/>
          </p:nvSpPr>
          <p:spPr>
            <a:xfrm>
              <a:off x="7804915" y="1893392"/>
              <a:ext cx="4459972" cy="311593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dirty="0"/>
                <a:t>Results of driving time and distance are in SharePoint, grouped by states:</a:t>
              </a:r>
            </a:p>
            <a:p>
              <a:pPr lvl="1" algn="l"/>
              <a:r>
                <a:rPr lang="en-US" dirty="0">
                  <a:hlinkClick r:id="rId5"/>
                </a:rPr>
                <a:t>Home-</a:t>
              </a:r>
              <a:r>
                <a:rPr lang="en-US" dirty="0" err="1">
                  <a:hlinkClick r:id="rId5"/>
                </a:rPr>
                <a:t>DataScience</a:t>
              </a:r>
              <a:r>
                <a:rPr lang="en-US" dirty="0">
                  <a:hlinkClick r:id="rId5"/>
                </a:rPr>
                <a:t> - Documents - 2025InternSummer Driving distance for Prospect Table - All Documents</a:t>
              </a:r>
              <a:endParaRPr lang="en-US" dirty="0"/>
            </a:p>
            <a:p>
              <a:pPr algn="l"/>
              <a:r>
                <a:rPr lang="en-US" dirty="0"/>
                <a:t>Codes are available on GitHub</a:t>
              </a:r>
            </a:p>
            <a:p>
              <a:pPr lvl="1" algn="l"/>
              <a:r>
                <a:rPr lang="en-US" dirty="0" err="1">
                  <a:hlinkClick r:id="rId6"/>
                </a:rPr>
                <a:t>prac</a:t>
              </a:r>
              <a:r>
                <a:rPr lang="en-US" dirty="0">
                  <a:hlinkClick r:id="rId6"/>
                </a:rPr>
                <a:t>-home/HO_2025_SummerDriving-distance-for-Prospect-Table</a:t>
              </a:r>
              <a:endParaRPr lang="en-US" dirty="0"/>
            </a:p>
            <a:p>
              <a:pPr lvl="1" algn="l"/>
              <a:r>
                <a:rPr lang="en-US" dirty="0">
                  <a:highlight>
                    <a:srgbClr val="FFFF00"/>
                  </a:highlight>
                </a:rPr>
                <a:t>Ready for new data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93250AD-3BDE-D658-4600-1FD043C67AF9}"/>
              </a:ext>
            </a:extLst>
          </p:cNvPr>
          <p:cNvSpPr txBox="1"/>
          <p:nvPr/>
        </p:nvSpPr>
        <p:spPr>
          <a:xfrm>
            <a:off x="4228974" y="4216941"/>
            <a:ext cx="36324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Google Map driving time: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0.5 mile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Time: 2 min</a:t>
            </a:r>
          </a:p>
        </p:txBody>
      </p:sp>
    </p:spTree>
    <p:extLst>
      <p:ext uri="{BB962C8B-B14F-4D97-AF65-F5344CB8AC3E}">
        <p14:creationId xmlns:p14="http://schemas.microsoft.com/office/powerpoint/2010/main" val="136083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4C802-60AD-50B9-C9C9-6769AB60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788BAB0-8D3B-1D0E-2BD4-3DE520934BFE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8855A88-477D-BE19-59F8-6C6072380EAE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BD41213-3139-359C-1C0F-FC3439D6C5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91206E-8A19-C384-BCAA-C4027BDCD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8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CB06D34A-8120-8A4C-FCCA-B70FD3351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6A4125-2DDE-172B-DB04-D30EAC2E4F80}"/>
              </a:ext>
            </a:extLst>
          </p:cNvPr>
          <p:cNvSpPr txBox="1"/>
          <p:nvPr/>
        </p:nvSpPr>
        <p:spPr>
          <a:xfrm>
            <a:off x="0" y="9746"/>
            <a:ext cx="10952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3, Property Attributes Prediction Using 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B576C3-6144-6E60-203A-6A3766713A2C}"/>
              </a:ext>
            </a:extLst>
          </p:cNvPr>
          <p:cNvSpPr txBox="1"/>
          <p:nvPr/>
        </p:nvSpPr>
        <p:spPr>
          <a:xfrm>
            <a:off x="41658" y="4925157"/>
            <a:ext cx="1219200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Quantarium </a:t>
            </a:r>
            <a:r>
              <a:rPr lang="en-US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provides only ~27% residential property values (# of bedrooms and bathrooms) in New Jersey .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Our goal is to use the GPT to estimate the relative information.</a:t>
            </a:r>
            <a:endParaRPr lang="en-US" sz="2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04CF05-650F-A007-A1C9-5DA7854193D2}"/>
              </a:ext>
            </a:extLst>
          </p:cNvPr>
          <p:cNvSpPr txBox="1"/>
          <p:nvPr/>
        </p:nvSpPr>
        <p:spPr>
          <a:xfrm>
            <a:off x="3574998" y="4603966"/>
            <a:ext cx="11956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118 W Church St, Absecon, NJ 08201, Google Street View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F68AA8-E323-B228-6AFE-57BE33115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160" y="695978"/>
            <a:ext cx="4334480" cy="38676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01BB2AB-C76F-B80F-3B03-A187E2B3C4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80" y="1084969"/>
            <a:ext cx="5359223" cy="296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37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E3AE-F647-B359-A27A-F0ADF06CF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BEE5E3-CE64-36C3-29E1-8B994833E1C3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9074BB7-4073-24C4-8840-F2667A1A09B4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9596354-6BD6-180C-E503-8E6F341919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84FBB4-89B0-3025-F7B0-E55C3B2E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9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3401B8BC-3392-F698-C087-245F81DAE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E0C15-C779-10F9-F502-6DF4351825B6}"/>
              </a:ext>
            </a:extLst>
          </p:cNvPr>
          <p:cNvSpPr txBox="1"/>
          <p:nvPr/>
        </p:nvSpPr>
        <p:spPr>
          <a:xfrm>
            <a:off x="0" y="974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Objective: estimate bedrooms and bathrooms using address only 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365EB27-668A-0FB2-EF0B-D29C252E2E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7848324"/>
              </p:ext>
            </p:extLst>
          </p:nvPr>
        </p:nvGraphicFramePr>
        <p:xfrm>
          <a:off x="41659" y="1875665"/>
          <a:ext cx="12150342" cy="4101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4F30D33-3702-FEF6-2F94-BCE49ADBB92C}"/>
              </a:ext>
            </a:extLst>
          </p:cNvPr>
          <p:cNvSpPr txBox="1"/>
          <p:nvPr/>
        </p:nvSpPr>
        <p:spPr>
          <a:xfrm>
            <a:off x="0" y="881150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use a GPT model (gpt-4.1) to predict the number of bedrooms and bathrooms solely based on property address.  We try to </a:t>
            </a:r>
            <a:r>
              <a:rPr lang="en-US" sz="2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answer the following critical questions:</a:t>
            </a:r>
            <a:endParaRPr lang="en-US" sz="2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33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C018F-68AC-4589-9926-A75F4BEB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808CB43-EB8F-B57E-90F0-768DB3841938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712F0BE-A748-6108-AF89-010A2D10954C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882397A-1308-49CD-0F01-B95412D3EF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A0F268-59A3-AD6A-6833-17895CB4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10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B4CD4072-E57E-5999-9DD7-0705F4DE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ABE82-3170-B60F-5406-67471C544860}"/>
              </a:ext>
            </a:extLst>
          </p:cNvPr>
          <p:cNvSpPr txBox="1"/>
          <p:nvPr/>
        </p:nvSpPr>
        <p:spPr>
          <a:xfrm>
            <a:off x="0" y="9746"/>
            <a:ext cx="11469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prompts</a:t>
            </a:r>
            <a:endParaRPr lang="en-US" sz="28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A61CEC-AADD-1608-B56E-B6EF77E4B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37" y="562255"/>
            <a:ext cx="11088215" cy="47808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28F151-2337-33CC-3B86-D85281DB9660}"/>
              </a:ext>
            </a:extLst>
          </p:cNvPr>
          <p:cNvSpPr txBox="1"/>
          <p:nvPr/>
        </p:nvSpPr>
        <p:spPr>
          <a:xfrm>
            <a:off x="6913068" y="3855613"/>
            <a:ext cx="59498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00"/>
                </a:highlight>
              </a:rPr>
              <a:t>Predicted bedrooms: 3 (Zillow gives 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FFFF00"/>
                </a:highlight>
              </a:rPr>
              <a:t>Predicted bathrooms: 2 (Zillow gives 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08C7D1-E2BD-8114-575E-9CB0AF5931EF}"/>
              </a:ext>
            </a:extLst>
          </p:cNvPr>
          <p:cNvSpPr txBox="1"/>
          <p:nvPr/>
        </p:nvSpPr>
        <p:spPr>
          <a:xfrm>
            <a:off x="41658" y="5343147"/>
            <a:ext cx="117220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Coding process: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Python to submit the question to GPT and save the results as CSV file.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18E0DD-1276-48D5-6311-435F8B9618B0}"/>
              </a:ext>
            </a:extLst>
          </p:cNvPr>
          <p:cNvSpPr/>
          <p:nvPr/>
        </p:nvSpPr>
        <p:spPr>
          <a:xfrm>
            <a:off x="4038600" y="4043882"/>
            <a:ext cx="1794642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1D5AF881-18AB-B6DC-D8E0-F3B03FEC1352}"/>
              </a:ext>
            </a:extLst>
          </p:cNvPr>
          <p:cNvSpPr/>
          <p:nvPr/>
        </p:nvSpPr>
        <p:spPr>
          <a:xfrm>
            <a:off x="4824115" y="3985760"/>
            <a:ext cx="2018253" cy="5165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9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7" grpId="0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18946-03DC-ABC8-9246-0C7ECF8FB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C5043BF-74BE-1854-B841-22CED3ADF751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ED67159-D872-05C6-71DD-330F517A1202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AEBAE92-8DCD-D513-402C-D8401799FD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5DD74A-6120-E95E-F175-8FB861B4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11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624048DE-FB5E-4525-58CD-ADA9322D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5E4B54-9FD4-E977-3AB7-2B0C53045AE0}"/>
              </a:ext>
            </a:extLst>
          </p:cNvPr>
          <p:cNvSpPr txBox="1"/>
          <p:nvPr/>
        </p:nvSpPr>
        <p:spPr>
          <a:xfrm>
            <a:off x="-1" y="9746"/>
            <a:ext cx="1219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Results: bedrooms number difference from Quantarium</a:t>
            </a:r>
            <a:endParaRPr lang="en-US" sz="28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2E9DB-3EBD-84F8-62BE-C66BDFB79CBB}"/>
              </a:ext>
            </a:extLst>
          </p:cNvPr>
          <p:cNvSpPr txBox="1"/>
          <p:nvPr/>
        </p:nvSpPr>
        <p:spPr>
          <a:xfrm>
            <a:off x="67666" y="1844669"/>
            <a:ext cx="4162097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Total samples: 1000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Accuracy: 43.5%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84.0% prediction has difference &lt;= 1.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6205930"/>
              </p:ext>
            </p:extLst>
          </p:nvPr>
        </p:nvGraphicFramePr>
        <p:xfrm>
          <a:off x="4390467" y="736674"/>
          <a:ext cx="7525866" cy="5219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91987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62F96-F986-0BF5-E90B-54C74B47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1D42C85-40D6-C65C-837B-07C373C1C63F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F64C352-B584-7C15-6B67-04AAD5283FAF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96B9083-CC22-D292-01B7-B81FF7F25F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90FA1C-9A17-E37C-D522-8E3CD470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12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5B667785-3658-EF43-B476-F0C5F149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F0BC1-3EB7-0230-69C4-E9A4EFABFAD0}"/>
              </a:ext>
            </a:extLst>
          </p:cNvPr>
          <p:cNvSpPr txBox="1"/>
          <p:nvPr/>
        </p:nvSpPr>
        <p:spPr>
          <a:xfrm>
            <a:off x="-1" y="97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Results: bathrooms number difference from Quantarium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B57335-FC8F-0EF6-CC0D-AB045EEEAB27}"/>
              </a:ext>
            </a:extLst>
          </p:cNvPr>
          <p:cNvSpPr txBox="1"/>
          <p:nvPr/>
        </p:nvSpPr>
        <p:spPr>
          <a:xfrm>
            <a:off x="67666" y="1844669"/>
            <a:ext cx="4162097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Total samples: 1000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Accuracy: 31.8%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81.4% prediction has difference &lt;= 1.</a:t>
            </a:r>
            <a:endParaRPr lang="en-US" sz="240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3786667"/>
              </p:ext>
            </p:extLst>
          </p:nvPr>
        </p:nvGraphicFramePr>
        <p:xfrm>
          <a:off x="4229762" y="829394"/>
          <a:ext cx="7894571" cy="5134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65752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6170A-3BA7-521E-BF31-646FFC86B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57400D8-203C-8D13-C9AF-891421D44691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1DEF10D-0032-DA43-F2D4-4F61AFC809B5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B61930F-2562-3A2E-5F1B-FA7E2FA585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FCD570-264F-BE5E-A72F-8D536DD9A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13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14537233-F402-C605-6C51-A97D4108E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651402-0983-F740-1638-32FF61DB6DF3}"/>
              </a:ext>
            </a:extLst>
          </p:cNvPr>
          <p:cNvSpPr txBox="1"/>
          <p:nvPr/>
        </p:nvSpPr>
        <p:spPr>
          <a:xfrm>
            <a:off x="0" y="97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Evaluation: Quantarium has more accurate data</a:t>
            </a:r>
            <a:endParaRPr lang="en-US" sz="28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419EC-48D6-6F91-533C-045C7A39C701}"/>
              </a:ext>
            </a:extLst>
          </p:cNvPr>
          <p:cNvSpPr txBox="1"/>
          <p:nvPr/>
        </p:nvSpPr>
        <p:spPr>
          <a:xfrm>
            <a:off x="281682" y="4852409"/>
            <a:ext cx="12274425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GPT is less reliable compared with the Quantarium information.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Both Quantarium and GPT struggle to accurately handle the half bathroom.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C5D9C-E472-D74B-2516-7D581C2089D9}"/>
              </a:ext>
            </a:extLst>
          </p:cNvPr>
          <p:cNvSpPr txBox="1"/>
          <p:nvPr/>
        </p:nvSpPr>
        <p:spPr>
          <a:xfrm>
            <a:off x="3611381" y="816330"/>
            <a:ext cx="2862470" cy="377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Quantarium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2E8493-A106-BE37-E627-D626E60A2E12}"/>
              </a:ext>
            </a:extLst>
          </p:cNvPr>
          <p:cNvSpPr txBox="1"/>
          <p:nvPr/>
        </p:nvSpPr>
        <p:spPr>
          <a:xfrm>
            <a:off x="7547113" y="795791"/>
            <a:ext cx="2862470" cy="377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GPT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68A259-33FC-34B2-B2EE-FED23AEFC250}"/>
              </a:ext>
            </a:extLst>
          </p:cNvPr>
          <p:cNvSpPr txBox="1"/>
          <p:nvPr/>
        </p:nvSpPr>
        <p:spPr>
          <a:xfrm>
            <a:off x="10085232" y="772930"/>
            <a:ext cx="2862470" cy="377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Manual verification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D642AB-A94C-AC12-068F-C83E13B7020C}"/>
              </a:ext>
            </a:extLst>
          </p:cNvPr>
          <p:cNvSpPr txBox="1"/>
          <p:nvPr/>
        </p:nvSpPr>
        <p:spPr>
          <a:xfrm>
            <a:off x="3860800" y="3716276"/>
            <a:ext cx="7631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Quantarium correct; </a:t>
            </a:r>
          </a:p>
          <a:p>
            <a:r>
              <a:rPr lang="en-US" dirty="0">
                <a:highlight>
                  <a:srgbClr val="00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Slight difference of Quantarium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6549E52-E27C-045F-CF0C-1360B5ED8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12302"/>
            <a:ext cx="12192000" cy="225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64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335AE-A55B-38F9-6F11-53EECD4B5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081FCFE-CB50-A5B4-B247-D3BBCE809C0A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864934-FCA7-A6F6-7C72-B55A1DC9CCD1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02B4BA-A954-E800-DDC8-FAB4CB380D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B25FF8-3551-6B63-4512-0B998B48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14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4EA9793A-E9D0-AA1A-9FE6-6734131B1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EB2CF2-73A1-22D9-82E3-6286C06124EC}"/>
              </a:ext>
            </a:extLst>
          </p:cNvPr>
          <p:cNvSpPr txBox="1"/>
          <p:nvPr/>
        </p:nvSpPr>
        <p:spPr>
          <a:xfrm>
            <a:off x="0" y="974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Evaluation: Better prompts and GPT-5 give correct prediction</a:t>
            </a:r>
            <a:endParaRPr lang="en-US" sz="28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0B960F-10DF-AD53-C732-1E63E6A97E62}"/>
              </a:ext>
            </a:extLst>
          </p:cNvPr>
          <p:cNvSpPr txBox="1"/>
          <p:nvPr/>
        </p:nvSpPr>
        <p:spPr>
          <a:xfrm>
            <a:off x="281682" y="4852409"/>
            <a:ext cx="122744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GPT reaches 9/10 accuracy with model gpt-5 and better prompts.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216DDB-8C35-5B1C-E376-6727ECD8AC87}"/>
              </a:ext>
            </a:extLst>
          </p:cNvPr>
          <p:cNvSpPr txBox="1"/>
          <p:nvPr/>
        </p:nvSpPr>
        <p:spPr>
          <a:xfrm>
            <a:off x="3611381" y="816330"/>
            <a:ext cx="2862470" cy="377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Quantarium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518E0-419A-85E7-AAE1-F355D64C37D9}"/>
              </a:ext>
            </a:extLst>
          </p:cNvPr>
          <p:cNvSpPr txBox="1"/>
          <p:nvPr/>
        </p:nvSpPr>
        <p:spPr>
          <a:xfrm>
            <a:off x="6473851" y="826819"/>
            <a:ext cx="2862470" cy="377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GPT-5 and better prompts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BDB5A-3297-A192-C4DF-EF9A4041F232}"/>
              </a:ext>
            </a:extLst>
          </p:cNvPr>
          <p:cNvSpPr txBox="1"/>
          <p:nvPr/>
        </p:nvSpPr>
        <p:spPr>
          <a:xfrm>
            <a:off x="9693637" y="811211"/>
            <a:ext cx="2862470" cy="377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Manual verification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BB2BA7-14D8-C7CF-0836-E912BFA76B7D}"/>
              </a:ext>
            </a:extLst>
          </p:cNvPr>
          <p:cNvSpPr txBox="1"/>
          <p:nvPr/>
        </p:nvSpPr>
        <p:spPr>
          <a:xfrm>
            <a:off x="10289494" y="4176044"/>
            <a:ext cx="1670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correct</a:t>
            </a:r>
            <a:endParaRPr lang="en-US" dirty="0">
              <a:highlight>
                <a:srgbClr val="00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CB62D4-D0AD-C5E1-135A-87F775EE5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7" y="1151084"/>
            <a:ext cx="12112714" cy="302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05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D7C8D-81F1-310E-29EF-D804144D0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EA3BC0E-6225-BED5-CAB4-A67ABBFF8C3C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52A1FCF-F0C3-4E92-3DDF-7D6B62CF3BBF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F5BD5DD-6963-8A10-E665-713545E9BB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7D124B-13F0-2833-D5B2-4D0AEE240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15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25273B7F-77BC-E4E3-1020-C7D919F08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58DB97-7641-5AC9-80EB-FE1C34D1129A}"/>
              </a:ext>
            </a:extLst>
          </p:cNvPr>
          <p:cNvSpPr txBox="1"/>
          <p:nvPr/>
        </p:nvSpPr>
        <p:spPr>
          <a:xfrm>
            <a:off x="-1" y="9746"/>
            <a:ext cx="11353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Evaluate: GPT gives relatively consistent results</a:t>
            </a:r>
            <a:endParaRPr lang="en-US" sz="28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BE79DF-CF4E-A6A5-96F1-2689D301D901}"/>
              </a:ext>
            </a:extLst>
          </p:cNvPr>
          <p:cNvSpPr txBox="1"/>
          <p:nvPr/>
        </p:nvSpPr>
        <p:spPr>
          <a:xfrm>
            <a:off x="41658" y="5119089"/>
            <a:ext cx="12192001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ran the queries (1000 samples) 5 times, with each time showing ~30% and ~23% difference in the number of bathrooms and bedrooms, respectively.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Over 95% of the predictions vary within ±1 across multiple queries.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83C28A-3D4C-E870-B790-1AF7FFB86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903" y="675118"/>
            <a:ext cx="9335803" cy="42106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157BAE-A83E-84EB-0071-1FCA7AC612E5}"/>
              </a:ext>
            </a:extLst>
          </p:cNvPr>
          <p:cNvSpPr txBox="1"/>
          <p:nvPr/>
        </p:nvSpPr>
        <p:spPr>
          <a:xfrm>
            <a:off x="1647294" y="4709459"/>
            <a:ext cx="413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96.2% predictions with errors within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FE7039-A688-F72C-5B66-D8EA609CAC67}"/>
              </a:ext>
            </a:extLst>
          </p:cNvPr>
          <p:cNvSpPr txBox="1"/>
          <p:nvPr/>
        </p:nvSpPr>
        <p:spPr>
          <a:xfrm>
            <a:off x="6724056" y="4701090"/>
            <a:ext cx="413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98.3% predictions with errors within 1</a:t>
            </a:r>
          </a:p>
        </p:txBody>
      </p:sp>
    </p:spTree>
    <p:extLst>
      <p:ext uri="{BB962C8B-B14F-4D97-AF65-F5344CB8AC3E}">
        <p14:creationId xmlns:p14="http://schemas.microsoft.com/office/powerpoint/2010/main" val="388755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4D79F-12D6-4DFC-6100-EEE445279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0A17CE9-DC9D-ABCA-13BA-FFF4D5E986B3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4895EA-BAAD-7D53-F10F-A6CBC0EAA025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D88E58-5897-46BF-B17A-C666CB163F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C6A398-F3F2-C0ED-92D7-310C6CF98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16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7E7FB792-EAC9-C5C5-82AF-8513DC5E5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C52658-EDAB-C694-BE8A-B58B4324FCA2}"/>
              </a:ext>
            </a:extLst>
          </p:cNvPr>
          <p:cNvSpPr txBox="1"/>
          <p:nvPr/>
        </p:nvSpPr>
        <p:spPr>
          <a:xfrm>
            <a:off x="263039" y="226140"/>
            <a:ext cx="10381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B43F35-301E-88A6-1BBA-8709A78F795B}"/>
              </a:ext>
            </a:extLst>
          </p:cNvPr>
          <p:cNvSpPr txBox="1"/>
          <p:nvPr/>
        </p:nvSpPr>
        <p:spPr>
          <a:xfrm>
            <a:off x="263039" y="3186554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75475F-455A-2B24-5892-5D22ED37A652}"/>
              </a:ext>
            </a:extLst>
          </p:cNvPr>
          <p:cNvSpPr txBox="1"/>
          <p:nvPr/>
        </p:nvSpPr>
        <p:spPr>
          <a:xfrm>
            <a:off x="263039" y="1134667"/>
            <a:ext cx="11928961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More than 80% of GPT's predictions fall within a difference of 1 from the Quantarium data.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GPT (4.1) is less accurate than Quantarium but performs consistently across datasets and queries.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81DF31-4C25-0BF7-7C47-BBBBFA41FA57}"/>
              </a:ext>
            </a:extLst>
          </p:cNvPr>
          <p:cNvSpPr txBox="1"/>
          <p:nvPr/>
        </p:nvSpPr>
        <p:spPr>
          <a:xfrm>
            <a:off x="263039" y="4025432"/>
            <a:ext cx="11928961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GPT takes ~110 tokens (¢ 0.1) and ~1.1 seconds per prompt, making it ~$2,000 for 2 MM properties in NJ.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GPT-5 and better prompts for predictions.</a:t>
            </a:r>
          </a:p>
        </p:txBody>
      </p:sp>
    </p:spTree>
    <p:extLst>
      <p:ext uri="{BB962C8B-B14F-4D97-AF65-F5344CB8AC3E}">
        <p14:creationId xmlns:p14="http://schemas.microsoft.com/office/powerpoint/2010/main" val="4128183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FFF1-169A-487C-FA87-C3F05FE93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9D54AE0-84E2-559A-8CB9-6FE45AFA648B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AD51A42-4992-8860-FFB5-F5DB6C74406B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37DAE3D-8948-5D69-B9D4-73BAF88405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08833A0-06B9-2FEF-E4E7-764CC518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3DDD884-E1E8-3251-27B5-03165A753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17</a:t>
            </a:fld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5B5516-64CE-1E9F-3639-79F1A4A3CD74}"/>
              </a:ext>
            </a:extLst>
          </p:cNvPr>
          <p:cNvSpPr txBox="1"/>
          <p:nvPr/>
        </p:nvSpPr>
        <p:spPr>
          <a:xfrm>
            <a:off x="477079" y="2085787"/>
            <a:ext cx="114200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I’ve learned so much during my time here—both technical skills and business mindset. The company’s culture and environment are truly the best.</a:t>
            </a:r>
          </a:p>
          <a:p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I’d like to sincerely thank everyone on the team and across the company, especially Shawn, Yi, </a:t>
            </a:r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</a:rPr>
              <a:t>Saurabh, and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Scott, for their guidance and support.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56C703-7DD6-32B0-2505-169C3F5D3EA2}"/>
              </a:ext>
            </a:extLst>
          </p:cNvPr>
          <p:cNvSpPr txBox="1"/>
          <p:nvPr/>
        </p:nvSpPr>
        <p:spPr>
          <a:xfrm>
            <a:off x="2264786" y="769010"/>
            <a:ext cx="7313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345593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/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18</a:t>
            </a:fld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64787" y="2846288"/>
            <a:ext cx="7313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575553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4799-84F4-713E-5B78-A8FC7EFF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79E9B-2A42-B80E-4CA5-2792B51CD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88929-ECA9-2163-7033-2E09AAD88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C4270-F24B-A935-7BBA-93BEB848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47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615D-B9F9-55B1-F9C9-0AA94E94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CB974D-FA58-FBFF-C7C4-41D67835016E}"/>
              </a:ext>
            </a:extLst>
          </p:cNvPr>
          <p:cNvSpPr/>
          <p:nvPr/>
        </p:nvSpPr>
        <p:spPr>
          <a:xfrm>
            <a:off x="7261752" y="1142750"/>
            <a:ext cx="4139116" cy="37233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3F2FD2-B8CE-1DE4-6945-3816D8BB8A0B}"/>
              </a:ext>
            </a:extLst>
          </p:cNvPr>
          <p:cNvSpPr/>
          <p:nvPr/>
        </p:nvSpPr>
        <p:spPr>
          <a:xfrm>
            <a:off x="160538" y="924166"/>
            <a:ext cx="5137903" cy="4487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0DA5B78-585F-7BEA-A014-2C8C3F4B72D4}"/>
              </a:ext>
            </a:extLst>
          </p:cNvPr>
          <p:cNvSpPr/>
          <p:nvPr/>
        </p:nvSpPr>
        <p:spPr>
          <a:xfrm>
            <a:off x="1314932" y="1703388"/>
            <a:ext cx="3783177" cy="3664626"/>
          </a:xfrm>
          <a:prstGeom prst="ellipse">
            <a:avLst/>
          </a:prstGeom>
          <a:solidFill>
            <a:schemeClr val="tx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158708-750A-417F-D8D2-95FF1F9547B7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D918EA-967C-AB4D-35F8-0F693AB01394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C53DD8B-775C-08A9-19E8-7E41727383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FFB56B-7974-A00C-C2D3-83CCD502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20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94F39053-8B42-C444-B736-74B31AB40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892CD4-E24E-FEF8-5D5B-79AAA482419C}"/>
              </a:ext>
            </a:extLst>
          </p:cNvPr>
          <p:cNvSpPr txBox="1"/>
          <p:nvPr/>
        </p:nvSpPr>
        <p:spPr>
          <a:xfrm>
            <a:off x="-1" y="9746"/>
            <a:ext cx="10277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Results: V4 and V5 look at the same images differently </a:t>
            </a:r>
            <a:endParaRPr 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A07F9F9-B329-300D-DF3C-2EB20EF037A2}"/>
              </a:ext>
            </a:extLst>
          </p:cNvPr>
          <p:cNvSpPr/>
          <p:nvPr/>
        </p:nvSpPr>
        <p:spPr>
          <a:xfrm>
            <a:off x="791132" y="1747042"/>
            <a:ext cx="3783177" cy="3664626"/>
          </a:xfrm>
          <a:prstGeom prst="ellipse">
            <a:avLst/>
          </a:prstGeom>
          <a:solidFill>
            <a:schemeClr val="tx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7719FE-58B0-618C-6DCB-155CD5EAA30E}"/>
              </a:ext>
            </a:extLst>
          </p:cNvPr>
          <p:cNvSpPr txBox="1"/>
          <p:nvPr/>
        </p:nvSpPr>
        <p:spPr>
          <a:xfrm>
            <a:off x="782339" y="996941"/>
            <a:ext cx="3980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Whole common images: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~20.0 MM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5509A4-71BD-29EB-1424-FB20CC14164D}"/>
              </a:ext>
            </a:extLst>
          </p:cNvPr>
          <p:cNvSpPr txBox="1"/>
          <p:nvPr/>
        </p:nvSpPr>
        <p:spPr>
          <a:xfrm>
            <a:off x="1624456" y="3257083"/>
            <a:ext cx="28779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Features available both from V4 and V5 : ~16.0 MM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88CB17-631B-2A54-BCE5-FB49A4119B96}"/>
              </a:ext>
            </a:extLst>
          </p:cNvPr>
          <p:cNvSpPr txBox="1"/>
          <p:nvPr/>
        </p:nvSpPr>
        <p:spPr>
          <a:xfrm>
            <a:off x="1316928" y="2236391"/>
            <a:ext cx="1942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V4 with features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: 16.1 MM</a:t>
            </a:r>
          </a:p>
          <a:p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9A5C1C-E7DE-A330-17C1-67F90D07E1D1}"/>
              </a:ext>
            </a:extLst>
          </p:cNvPr>
          <p:cNvSpPr txBox="1"/>
          <p:nvPr/>
        </p:nvSpPr>
        <p:spPr>
          <a:xfrm>
            <a:off x="3683126" y="2236391"/>
            <a:ext cx="16622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V5 with features: 16.6 MM</a:t>
            </a:r>
          </a:p>
          <a:p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30FEE6-AC0A-5EB3-5778-7AAD1DA97F75}"/>
              </a:ext>
            </a:extLst>
          </p:cNvPr>
          <p:cNvSpPr txBox="1"/>
          <p:nvPr/>
        </p:nvSpPr>
        <p:spPr>
          <a:xfrm rot="10800000" flipV="1">
            <a:off x="8207593" y="4906352"/>
            <a:ext cx="37054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Next we will compare some common features in this category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3C59728-FCFD-87C4-C6C5-94D0C7BF9E26}"/>
              </a:ext>
            </a:extLst>
          </p:cNvPr>
          <p:cNvCxnSpPr>
            <a:cxnSpLocks/>
          </p:cNvCxnSpPr>
          <p:nvPr/>
        </p:nvCxnSpPr>
        <p:spPr>
          <a:xfrm>
            <a:off x="9024730" y="4180413"/>
            <a:ext cx="1012046" cy="881432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4B8C3C8-F001-42D7-1655-86F3E61EDFA8}"/>
              </a:ext>
            </a:extLst>
          </p:cNvPr>
          <p:cNvSpPr/>
          <p:nvPr/>
        </p:nvSpPr>
        <p:spPr>
          <a:xfrm>
            <a:off x="8036715" y="1749448"/>
            <a:ext cx="3047743" cy="3040559"/>
          </a:xfrm>
          <a:prstGeom prst="ellipse">
            <a:avLst/>
          </a:prstGeom>
          <a:solidFill>
            <a:schemeClr val="tx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E2D3B9-7C7D-47D1-08E8-A239FF8D60D6}"/>
              </a:ext>
            </a:extLst>
          </p:cNvPr>
          <p:cNvSpPr/>
          <p:nvPr/>
        </p:nvSpPr>
        <p:spPr>
          <a:xfrm>
            <a:off x="7842459" y="1749448"/>
            <a:ext cx="3047743" cy="3040559"/>
          </a:xfrm>
          <a:prstGeom prst="ellipse">
            <a:avLst/>
          </a:prstGeom>
          <a:solidFill>
            <a:schemeClr val="tx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591E79-9BFB-6447-B366-825FD351247B}"/>
              </a:ext>
            </a:extLst>
          </p:cNvPr>
          <p:cNvSpPr txBox="1"/>
          <p:nvPr/>
        </p:nvSpPr>
        <p:spPr>
          <a:xfrm>
            <a:off x="8170269" y="2836315"/>
            <a:ext cx="2318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Features available both from V4 and V5 : ~3.9060 MM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1A5D6E-7A4E-2D07-CB6C-A7E6350AFCF2}"/>
              </a:ext>
            </a:extLst>
          </p:cNvPr>
          <p:cNvSpPr txBox="1"/>
          <p:nvPr/>
        </p:nvSpPr>
        <p:spPr>
          <a:xfrm>
            <a:off x="7680837" y="1784175"/>
            <a:ext cx="15646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V4 with features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: 3.9106 MM</a:t>
            </a:r>
          </a:p>
          <a:p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281D75-F7D1-AE97-26A6-1A7E735BEB9C}"/>
              </a:ext>
            </a:extLst>
          </p:cNvPr>
          <p:cNvSpPr txBox="1"/>
          <p:nvPr/>
        </p:nvSpPr>
        <p:spPr>
          <a:xfrm>
            <a:off x="9992611" y="1784175"/>
            <a:ext cx="15646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V5 with features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: 3.9110 MM</a:t>
            </a:r>
          </a:p>
          <a:p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821158-CF0B-600C-3995-BF59666472E3}"/>
              </a:ext>
            </a:extLst>
          </p:cNvPr>
          <p:cNvSpPr txBox="1"/>
          <p:nvPr/>
        </p:nvSpPr>
        <p:spPr>
          <a:xfrm>
            <a:off x="7540527" y="1146711"/>
            <a:ext cx="3980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same 4.3 MM new images in April</a:t>
            </a:r>
          </a:p>
        </p:txBody>
      </p:sp>
    </p:spTree>
    <p:extLst>
      <p:ext uri="{BB962C8B-B14F-4D97-AF65-F5344CB8AC3E}">
        <p14:creationId xmlns:p14="http://schemas.microsoft.com/office/powerpoint/2010/main" val="329644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9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18F7C-2B2C-E62E-244D-815A36E9B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96B3708-DC01-1979-BAB4-8614D454BC55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3A7F7B9-7A9E-882C-4521-C59D10ED9ECB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EACAD43-A285-8D5F-7B7A-14BACDD8F8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97E653-1371-105D-725F-E5430B56E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21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0C73D63C-359C-3AA4-7E8D-23B783122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F62DD-CF87-EF9F-82E9-E632F371D9E1}"/>
              </a:ext>
            </a:extLst>
          </p:cNvPr>
          <p:cNvSpPr txBox="1"/>
          <p:nvPr/>
        </p:nvSpPr>
        <p:spPr>
          <a:xfrm>
            <a:off x="-1" y="9746"/>
            <a:ext cx="11857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Results: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</a:rPr>
              <a:t>cape_accessory_structure_footprint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 comparison</a:t>
            </a:r>
            <a:endParaRPr 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290AA3-4CF7-08C2-BD9C-756D3AC80510}"/>
              </a:ext>
            </a:extLst>
          </p:cNvPr>
          <p:cNvSpPr txBox="1"/>
          <p:nvPr/>
        </p:nvSpPr>
        <p:spPr>
          <a:xfrm>
            <a:off x="0" y="5026858"/>
            <a:ext cx="1219200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continuous feature,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cape_accessory_structure_footprint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displays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same distribution.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0.1% data have value difference greater than 1.</a:t>
            </a:r>
            <a:endParaRPr lang="en-US" sz="24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BCECEB-8D9B-4BE4-862E-C99B5A428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16" y="594521"/>
            <a:ext cx="11330788" cy="444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0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88B4A-71E2-4288-9B3D-61C51FCF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EF77826-BAA4-523A-07CF-3953CC5CB93C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BD4B1D5-384E-9484-F6D9-846DFE9E44DE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4A4A7B5-98B6-2BDC-6595-3ACDAE1C8A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9C372F-8EF6-86FE-E0FE-A348B4B1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22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DC3E962A-C441-2A7F-F3FE-5FB92B2E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1B0DE9-677D-24F1-D5E7-981C573C7018}"/>
              </a:ext>
            </a:extLst>
          </p:cNvPr>
          <p:cNvSpPr txBox="1"/>
          <p:nvPr/>
        </p:nvSpPr>
        <p:spPr>
          <a:xfrm>
            <a:off x="-1" y="9746"/>
            <a:ext cx="10402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Results: properties to the nearest fire station</a:t>
            </a:r>
            <a:endParaRPr lang="en-US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D31E17-07FF-3A09-870B-E14E00DA22AF}"/>
              </a:ext>
            </a:extLst>
          </p:cNvPr>
          <p:cNvSpPr txBox="1"/>
          <p:nvPr/>
        </p:nvSpPr>
        <p:spPr>
          <a:xfrm>
            <a:off x="666438" y="3880965"/>
            <a:ext cx="108331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All 18 MM data are finished in 7 days.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From properties to the nearest fire stations in MA: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Driving distance: 1.38 mile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Driving time: 3.58 min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B56139-C47A-CE78-406B-5B7EBC9F8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38" y="1004931"/>
            <a:ext cx="11409544" cy="256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35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D811-B017-416A-DCCC-DF4871B9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9771AE8-76B7-6FD3-F87A-53C5CB6F2FDF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EF856B-E312-F040-6C17-B5AAB9A46976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85F678-9769-ADD8-843F-AC380EAC31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F3CDF1-BB71-9B94-4084-8CA4772B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23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82D688B3-5506-0DFF-51D4-BA2E1DF2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27388-B9B0-1719-3E9E-27323AD86282}"/>
              </a:ext>
            </a:extLst>
          </p:cNvPr>
          <p:cNvSpPr txBox="1"/>
          <p:nvPr/>
        </p:nvSpPr>
        <p:spPr>
          <a:xfrm>
            <a:off x="-313333" y="283012"/>
            <a:ext cx="4038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Results: bedrooms number confusion matrix</a:t>
            </a:r>
            <a:endParaRPr lang="en-US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EE541E-77EA-253E-0DFD-A74A2B89AB3F}"/>
              </a:ext>
            </a:extLst>
          </p:cNvPr>
          <p:cNvSpPr txBox="1"/>
          <p:nvPr/>
        </p:nvSpPr>
        <p:spPr>
          <a:xfrm>
            <a:off x="67666" y="1844669"/>
            <a:ext cx="3657601" cy="157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samples: 1000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|pred – true| &lt;= 1 are highlighted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F6D7C4-B275-61DC-C2B8-28497CAC5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764" y="-9746"/>
            <a:ext cx="8003894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2F6E0A3-AFB5-E0C1-0E0A-C9DAA8865E66}"/>
              </a:ext>
            </a:extLst>
          </p:cNvPr>
          <p:cNvSpPr txBox="1"/>
          <p:nvPr/>
        </p:nvSpPr>
        <p:spPr>
          <a:xfrm rot="16200000">
            <a:off x="3335951" y="2239602"/>
            <a:ext cx="1497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Quantarium 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8ED625-9D87-B8D0-7839-FDF2E1E04BC0}"/>
              </a:ext>
            </a:extLst>
          </p:cNvPr>
          <p:cNvSpPr txBox="1"/>
          <p:nvPr/>
        </p:nvSpPr>
        <p:spPr>
          <a:xfrm>
            <a:off x="5747521" y="94485"/>
            <a:ext cx="33334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Predicted value</a:t>
            </a:r>
          </a:p>
        </p:txBody>
      </p:sp>
    </p:spTree>
    <p:extLst>
      <p:ext uri="{BB962C8B-B14F-4D97-AF65-F5344CB8AC3E}">
        <p14:creationId xmlns:p14="http://schemas.microsoft.com/office/powerpoint/2010/main" val="39855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5F2A9-7EA2-A26A-FFF5-8BBEC6399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2C96D11-9C72-1B98-BEAA-29757842EDB8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D60E118-70C9-A47A-73E7-71827A2195CD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5F3F0B8-855D-E38F-3DF1-33E9A40EA0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95F983-C4FD-5227-B81C-A897880A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24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8B127884-FD90-527C-A7D4-A2A0853D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83742F-3C56-AE9D-A14E-CF7A7EDF7085}"/>
              </a:ext>
            </a:extLst>
          </p:cNvPr>
          <p:cNvSpPr txBox="1"/>
          <p:nvPr/>
        </p:nvSpPr>
        <p:spPr>
          <a:xfrm>
            <a:off x="0" y="9746"/>
            <a:ext cx="42169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Results: bathrooms number confusion matrix</a:t>
            </a:r>
            <a:endParaRPr lang="en-US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D42D26-E934-2875-61C9-64984CF8A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9746"/>
            <a:ext cx="8029937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D58CB0-9099-2170-6431-32D86F38F057}"/>
              </a:ext>
            </a:extLst>
          </p:cNvPr>
          <p:cNvSpPr txBox="1"/>
          <p:nvPr/>
        </p:nvSpPr>
        <p:spPr>
          <a:xfrm>
            <a:off x="41658" y="2434863"/>
            <a:ext cx="618564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samples: 1000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Accuracy: 31.8%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81.4% prediction has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erros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&lt;= 1.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66343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B41E0-49C0-B4AD-A5EF-605F92007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F3D5B92-5659-514A-B545-BC20C7EBD031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17AD390-54D2-A634-B822-D42A56C2E7FC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B5FC801-313C-BA75-6BB3-FBA3CE532D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7D5E02-8C64-3686-ED96-D748A1A3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25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88D48DBC-53B4-E2DF-F613-1A0C92378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B8A509-6103-FC0B-A0D5-5C6170A4CC1E}"/>
              </a:ext>
            </a:extLst>
          </p:cNvPr>
          <p:cNvSpPr txBox="1"/>
          <p:nvPr/>
        </p:nvSpPr>
        <p:spPr>
          <a:xfrm>
            <a:off x="-1" y="9746"/>
            <a:ext cx="10277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Results: GPT gives similar distribution for different data</a:t>
            </a:r>
            <a:endParaRPr lang="en-US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860827-9687-7624-5CC8-AEC8C6236CD5}"/>
              </a:ext>
            </a:extLst>
          </p:cNvPr>
          <p:cNvSpPr txBox="1"/>
          <p:nvPr/>
        </p:nvSpPr>
        <p:spPr>
          <a:xfrm>
            <a:off x="-1" y="5727336"/>
            <a:ext cx="11996164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dataset with and without Quantarium information, GPT predicts similar results.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6C63BD-9779-9474-3242-EC8E8EAD21C9}"/>
              </a:ext>
            </a:extLst>
          </p:cNvPr>
          <p:cNvGrpSpPr/>
          <p:nvPr/>
        </p:nvGrpSpPr>
        <p:grpSpPr>
          <a:xfrm>
            <a:off x="1184916" y="110907"/>
            <a:ext cx="10811247" cy="5890638"/>
            <a:chOff x="-8" y="474645"/>
            <a:chExt cx="10811247" cy="5890638"/>
          </a:xfrm>
        </p:grpSpPr>
        <p:graphicFrame>
          <p:nvGraphicFramePr>
            <p:cNvPr id="18" name="Chart 17">
              <a:extLst>
                <a:ext uri="{FF2B5EF4-FFF2-40B4-BE49-F238E27FC236}">
                  <a16:creationId xmlns:a16="http://schemas.microsoft.com/office/drawing/2014/main" id="{00000000-0008-0000-0000-00000200000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-1" y="494330"/>
            <a:ext cx="5343940" cy="327234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19" name="Chart 18">
              <a:extLst>
                <a:ext uri="{FF2B5EF4-FFF2-40B4-BE49-F238E27FC236}">
                  <a16:creationId xmlns:a16="http://schemas.microsoft.com/office/drawing/2014/main" id="{00000000-0008-0000-0000-00000300000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-8" y="3092942"/>
            <a:ext cx="5417604" cy="327234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20" name="Chart 19">
              <a:extLst>
                <a:ext uri="{FF2B5EF4-FFF2-40B4-BE49-F238E27FC236}">
                  <a16:creationId xmlns:a16="http://schemas.microsoft.com/office/drawing/2014/main" id="{00000000-0008-0000-0000-00000400000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393635" y="474645"/>
            <a:ext cx="5343940" cy="327234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21" name="Chart 20">
              <a:extLst>
                <a:ext uri="{FF2B5EF4-FFF2-40B4-BE49-F238E27FC236}">
                  <a16:creationId xmlns:a16="http://schemas.microsoft.com/office/drawing/2014/main" id="{00000000-0008-0000-0000-00000500000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393635" y="3083001"/>
            <a:ext cx="5417604" cy="327234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380BF32-72F6-D342-F8F0-9BCC57F1E803}"/>
              </a:ext>
            </a:extLst>
          </p:cNvPr>
          <p:cNvSpPr txBox="1"/>
          <p:nvPr/>
        </p:nvSpPr>
        <p:spPr>
          <a:xfrm rot="16200000">
            <a:off x="-466640" y="1629224"/>
            <a:ext cx="271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Dataset1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with Quantarium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A6004-CE37-F5B5-6147-E2CB3CD1E91D}"/>
              </a:ext>
            </a:extLst>
          </p:cNvPr>
          <p:cNvSpPr txBox="1"/>
          <p:nvPr/>
        </p:nvSpPr>
        <p:spPr>
          <a:xfrm rot="16200000">
            <a:off x="-458573" y="3931302"/>
            <a:ext cx="271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Dataset2, 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w/o Quantarium</a:t>
            </a:r>
          </a:p>
        </p:txBody>
      </p:sp>
    </p:spTree>
    <p:extLst>
      <p:ext uri="{BB962C8B-B14F-4D97-AF65-F5344CB8AC3E}">
        <p14:creationId xmlns:p14="http://schemas.microsoft.com/office/powerpoint/2010/main" val="2040356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14125</TotalTime>
  <Words>1456</Words>
  <Application>Microsoft Office PowerPoint</Application>
  <PresentationFormat>Widescreen</PresentationFormat>
  <Paragraphs>276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Whitney Medium</vt:lpstr>
      <vt:lpstr>Office Theme</vt:lpstr>
      <vt:lpstr>Advanced Analytics Summer Intern Report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Plymouth Rock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Pi, Jay</dc:creator>
  <cp:lastModifiedBy>Zhang, Wei</cp:lastModifiedBy>
  <cp:revision>1587</cp:revision>
  <dcterms:created xsi:type="dcterms:W3CDTF">2021-05-04T14:04:01Z</dcterms:created>
  <dcterms:modified xsi:type="dcterms:W3CDTF">2025-08-21T01:34:27Z</dcterms:modified>
</cp:coreProperties>
</file>